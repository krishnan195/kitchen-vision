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4630400" cy="8229600"/>
  <p:notesSz cx="8229600" cy="14630400"/>
  <p:embeddedFontLst>
    <p:embeddedFont>
      <p:font typeface="Inconsolata"/>
      <p:regular r:id="rId17"/>
    </p:embeddedFont>
    <p:embeddedFont>
      <p:font typeface="Inconsolata"/>
      <p:regular r:id="rId18"/>
    </p:embeddedFont>
    <p:embeddedFont>
      <p:font typeface="Fira Sans"/>
      <p:regular r:id="rId19"/>
    </p:embeddedFont>
    <p:embeddedFont>
      <p:font typeface="Fira Sans"/>
      <p:regular r:id="rId20"/>
    </p:embeddedFont>
    <p:embeddedFont>
      <p:font typeface="Fira Sans"/>
      <p:regular r:id="rId21"/>
    </p:embeddedFont>
    <p:embeddedFont>
      <p:font typeface="Fira Sans"/>
      <p:regular r:id="rId22"/>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 Id="rId21" Type="http://schemas.openxmlformats.org/officeDocument/2006/relationships/font" Target="fonts/font5.fntdata"/><Relationship Id="rId22"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1-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0C17"/>
          </a:solidFill>
          <a:ln/>
        </p:spPr>
      </p:sp>
      <p:sp>
        <p:nvSpPr>
          <p:cNvPr id="3" name="Shape 1"/>
          <p:cNvSpPr/>
          <p:nvPr/>
        </p:nvSpPr>
        <p:spPr>
          <a:xfrm>
            <a:off x="0" y="0"/>
            <a:ext cx="14630400" cy="8229600"/>
          </a:xfrm>
          <a:prstGeom prst="rect">
            <a:avLst/>
          </a:prstGeom>
          <a:solidFill>
            <a:srgbClr val="241631"/>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0C17"/>
          </a:solidFill>
          <a:ln/>
        </p:spPr>
      </p:sp>
      <p:sp>
        <p:nvSpPr>
          <p:cNvPr id="3" name="Shape 1"/>
          <p:cNvSpPr/>
          <p:nvPr/>
        </p:nvSpPr>
        <p:spPr>
          <a:xfrm>
            <a:off x="0" y="0"/>
            <a:ext cx="14630400" cy="8229600"/>
          </a:xfrm>
          <a:prstGeom prst="rect">
            <a:avLst/>
          </a:prstGeom>
          <a:solidFill>
            <a:srgbClr val="241631"/>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0C17"/>
          </a:solidFill>
          <a:ln/>
        </p:spPr>
      </p:sp>
      <p:sp>
        <p:nvSpPr>
          <p:cNvPr id="3" name="Shape 1"/>
          <p:cNvSpPr/>
          <p:nvPr/>
        </p:nvSpPr>
        <p:spPr>
          <a:xfrm>
            <a:off x="0" y="0"/>
            <a:ext cx="14630400" cy="8229600"/>
          </a:xfrm>
          <a:prstGeom prst="rect">
            <a:avLst/>
          </a:prstGeom>
          <a:solidFill>
            <a:srgbClr val="241631"/>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0C17"/>
          </a:solidFill>
          <a:ln/>
        </p:spPr>
      </p:sp>
      <p:sp>
        <p:nvSpPr>
          <p:cNvPr id="3" name="Shape 1"/>
          <p:cNvSpPr/>
          <p:nvPr/>
        </p:nvSpPr>
        <p:spPr>
          <a:xfrm>
            <a:off x="0" y="0"/>
            <a:ext cx="14630400" cy="8229600"/>
          </a:xfrm>
          <a:prstGeom prst="rect">
            <a:avLst/>
          </a:prstGeom>
          <a:solidFill>
            <a:srgbClr val="241631"/>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0C17"/>
          </a:solidFill>
          <a:ln/>
        </p:spPr>
      </p:sp>
      <p:sp>
        <p:nvSpPr>
          <p:cNvPr id="3" name="Shape 1"/>
          <p:cNvSpPr/>
          <p:nvPr/>
        </p:nvSpPr>
        <p:spPr>
          <a:xfrm>
            <a:off x="0" y="0"/>
            <a:ext cx="14630400" cy="8229600"/>
          </a:xfrm>
          <a:prstGeom prst="rect">
            <a:avLst/>
          </a:prstGeom>
          <a:solidFill>
            <a:srgbClr val="241631"/>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0C17"/>
          </a:solidFill>
          <a:ln/>
        </p:spPr>
      </p:sp>
      <p:sp>
        <p:nvSpPr>
          <p:cNvPr id="3" name="Shape 1"/>
          <p:cNvSpPr/>
          <p:nvPr/>
        </p:nvSpPr>
        <p:spPr>
          <a:xfrm>
            <a:off x="0" y="0"/>
            <a:ext cx="14630400" cy="8229600"/>
          </a:xfrm>
          <a:prstGeom prst="rect">
            <a:avLst/>
          </a:prstGeom>
          <a:solidFill>
            <a:srgbClr val="241631"/>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0C17"/>
          </a:solidFill>
          <a:ln/>
        </p:spPr>
      </p:sp>
      <p:sp>
        <p:nvSpPr>
          <p:cNvPr id="3" name="Shape 1"/>
          <p:cNvSpPr/>
          <p:nvPr/>
        </p:nvSpPr>
        <p:spPr>
          <a:xfrm>
            <a:off x="0" y="0"/>
            <a:ext cx="14630400" cy="8229600"/>
          </a:xfrm>
          <a:prstGeom prst="rect">
            <a:avLst/>
          </a:prstGeom>
          <a:solidFill>
            <a:srgbClr val="241631"/>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0C17"/>
          </a:solidFill>
          <a:ln/>
        </p:spPr>
      </p:sp>
      <p:sp>
        <p:nvSpPr>
          <p:cNvPr id="3" name="Shape 1"/>
          <p:cNvSpPr/>
          <p:nvPr/>
        </p:nvSpPr>
        <p:spPr>
          <a:xfrm>
            <a:off x="0" y="0"/>
            <a:ext cx="14630400" cy="8229600"/>
          </a:xfrm>
          <a:prstGeom prst="rect">
            <a:avLst/>
          </a:prstGeom>
          <a:solidFill>
            <a:srgbClr val="241631"/>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0C17"/>
          </a:solidFill>
          <a:ln/>
        </p:spPr>
      </p:sp>
      <p:sp>
        <p:nvSpPr>
          <p:cNvPr id="3" name="Shape 1"/>
          <p:cNvSpPr/>
          <p:nvPr/>
        </p:nvSpPr>
        <p:spPr>
          <a:xfrm>
            <a:off x="0" y="0"/>
            <a:ext cx="14630400" cy="8229600"/>
          </a:xfrm>
          <a:prstGeom prst="rect">
            <a:avLst/>
          </a:prstGeom>
          <a:solidFill>
            <a:srgbClr val="241631"/>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0C17"/>
          </a:solidFill>
          <a:ln/>
        </p:spPr>
      </p:sp>
      <p:sp>
        <p:nvSpPr>
          <p:cNvPr id="3" name="Shape 1"/>
          <p:cNvSpPr/>
          <p:nvPr/>
        </p:nvSpPr>
        <p:spPr>
          <a:xfrm>
            <a:off x="0" y="0"/>
            <a:ext cx="14630400" cy="8229600"/>
          </a:xfrm>
          <a:prstGeom prst="rect">
            <a:avLst/>
          </a:prstGeom>
          <a:solidFill>
            <a:srgbClr val="241631"/>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4.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5.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6.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93790" y="3004899"/>
            <a:ext cx="5670590" cy="708779"/>
          </a:xfrm>
          <a:prstGeom prst="rect">
            <a:avLst/>
          </a:prstGeom>
          <a:noFill/>
          <a:ln/>
        </p:spPr>
        <p:txBody>
          <a:bodyPr wrap="none" lIns="0" tIns="0" rIns="0" bIns="0" rtlCol="0" anchor="t"/>
          <a:lstStyle/>
          <a:p>
            <a:pPr algn="l" indent="0" marL="0">
              <a:lnSpc>
                <a:spcPts val="5550"/>
              </a:lnSpc>
              <a:buNone/>
            </a:pPr>
            <a:r>
              <a:rPr lang="en-US" sz="4450" b="1" dirty="0">
                <a:solidFill>
                  <a:srgbClr val="F94CAF"/>
                </a:solidFill>
                <a:latin typeface="Inconsolata Bold" pitchFamily="34" charset="0"/>
                <a:ea typeface="Inconsolata Bold" pitchFamily="34" charset="-122"/>
                <a:cs typeface="Inconsolata Bold" pitchFamily="34" charset="-120"/>
              </a:rPr>
              <a:t>Kitchen Vision</a:t>
            </a:r>
            <a:endParaRPr lang="en-US" sz="4450" dirty="0"/>
          </a:p>
        </p:txBody>
      </p:sp>
      <p:sp>
        <p:nvSpPr>
          <p:cNvPr id="3" name="Text 1"/>
          <p:cNvSpPr/>
          <p:nvPr/>
        </p:nvSpPr>
        <p:spPr>
          <a:xfrm>
            <a:off x="793790" y="3804404"/>
            <a:ext cx="9209603" cy="354330"/>
          </a:xfrm>
          <a:prstGeom prst="rect">
            <a:avLst/>
          </a:prstGeom>
          <a:noFill/>
          <a:ln/>
        </p:spPr>
        <p:txBody>
          <a:bodyPr wrap="none" lIns="0" tIns="0" rIns="0" bIns="0" rtlCol="0" anchor="t"/>
          <a:lstStyle/>
          <a:p>
            <a:pPr algn="l" indent="0" marL="0">
              <a:lnSpc>
                <a:spcPts val="2750"/>
              </a:lnSpc>
              <a:buNone/>
            </a:pPr>
            <a:r>
              <a:rPr lang="en-US" sz="2200" b="1" dirty="0">
                <a:solidFill>
                  <a:srgbClr val="F94CAF"/>
                </a:solidFill>
                <a:latin typeface="Inconsolata Bold" pitchFamily="34" charset="0"/>
                <a:ea typeface="Inconsolata Bold" pitchFamily="34" charset="-122"/>
                <a:cs typeface="Inconsolata Bold" pitchFamily="34" charset="-120"/>
              </a:rPr>
              <a:t>AI-Powered Pantry Analysis and Smart Recipe Recommendation System</a:t>
            </a:r>
            <a:endParaRPr lang="en-US" sz="2200" dirty="0"/>
          </a:p>
        </p:txBody>
      </p:sp>
      <p:sp>
        <p:nvSpPr>
          <p:cNvPr id="4" name="Text 2"/>
          <p:cNvSpPr/>
          <p:nvPr/>
        </p:nvSpPr>
        <p:spPr>
          <a:xfrm>
            <a:off x="793790" y="4498896"/>
            <a:ext cx="13042821" cy="725805"/>
          </a:xfrm>
          <a:prstGeom prst="rect">
            <a:avLst/>
          </a:prstGeom>
          <a:noFill/>
          <a:ln/>
        </p:spPr>
        <p:txBody>
          <a:bodyPr wrap="square" lIns="0" tIns="0" rIns="0" bIns="0" rtlCol="0" anchor="t"/>
          <a:lstStyle/>
          <a:p>
            <a:pPr algn="l" indent="0" marL="0">
              <a:lnSpc>
                <a:spcPts val="2850"/>
              </a:lnSpc>
              <a:buNone/>
            </a:pPr>
            <a:r>
              <a:rPr lang="en-US" sz="1750" dirty="0">
                <a:solidFill>
                  <a:srgbClr val="DAD1E6"/>
                </a:solidFill>
                <a:latin typeface="Fira Sans" pitchFamily="34" charset="0"/>
                <a:ea typeface="Fira Sans" pitchFamily="34" charset="-122"/>
                <a:cs typeface="Fira Sans" pitchFamily="34" charset="-120"/>
              </a:rPr>
              <a:t>An intelligent cooking assistant that transforms pantry images into meaningful culinary insights using computer vision and artificial intelligence</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2080855"/>
            <a:ext cx="5670590" cy="708779"/>
          </a:xfrm>
          <a:prstGeom prst="rect">
            <a:avLst/>
          </a:prstGeom>
          <a:noFill/>
          <a:ln/>
        </p:spPr>
        <p:txBody>
          <a:bodyPr wrap="none" lIns="0" tIns="0" rIns="0" bIns="0" rtlCol="0" anchor="t"/>
          <a:lstStyle/>
          <a:p>
            <a:pPr algn="l" indent="0" marL="0">
              <a:lnSpc>
                <a:spcPts val="5550"/>
              </a:lnSpc>
              <a:buNone/>
            </a:pPr>
            <a:r>
              <a:rPr lang="en-US" sz="4450" b="1" dirty="0">
                <a:solidFill>
                  <a:srgbClr val="F94CAF"/>
                </a:solidFill>
                <a:latin typeface="Inconsolata Bold" pitchFamily="34" charset="0"/>
                <a:ea typeface="Inconsolata Bold" pitchFamily="34" charset="-122"/>
                <a:cs typeface="Inconsolata Bold" pitchFamily="34" charset="-120"/>
              </a:rPr>
              <a:t>Project Overview</a:t>
            </a:r>
            <a:endParaRPr lang="en-US" sz="4450" dirty="0"/>
          </a:p>
        </p:txBody>
      </p:sp>
      <p:sp>
        <p:nvSpPr>
          <p:cNvPr id="3" name="Text 1"/>
          <p:cNvSpPr/>
          <p:nvPr/>
        </p:nvSpPr>
        <p:spPr>
          <a:xfrm>
            <a:off x="793790" y="3356610"/>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F94CAF"/>
                </a:solidFill>
                <a:latin typeface="Inconsolata Bold" pitchFamily="34" charset="0"/>
                <a:ea typeface="Inconsolata Bold" pitchFamily="34" charset="-122"/>
                <a:cs typeface="Inconsolata Bold" pitchFamily="34" charset="-120"/>
              </a:rPr>
              <a:t>Core Concept</a:t>
            </a:r>
            <a:endParaRPr lang="en-US" sz="2200" dirty="0"/>
          </a:p>
        </p:txBody>
      </p:sp>
      <p:sp>
        <p:nvSpPr>
          <p:cNvPr id="4" name="Text 2"/>
          <p:cNvSpPr/>
          <p:nvPr/>
        </p:nvSpPr>
        <p:spPr>
          <a:xfrm>
            <a:off x="793790" y="3937754"/>
            <a:ext cx="6244709" cy="1814513"/>
          </a:xfrm>
          <a:prstGeom prst="rect">
            <a:avLst/>
          </a:prstGeom>
          <a:noFill/>
          <a:ln/>
        </p:spPr>
        <p:txBody>
          <a:bodyPr wrap="square" lIns="0" tIns="0" rIns="0" bIns="0" rtlCol="0" anchor="t"/>
          <a:lstStyle/>
          <a:p>
            <a:pPr algn="l" indent="0" marL="0">
              <a:lnSpc>
                <a:spcPts val="2850"/>
              </a:lnSpc>
              <a:buNone/>
            </a:pPr>
            <a:r>
              <a:rPr lang="en-US" sz="1750" dirty="0">
                <a:solidFill>
                  <a:srgbClr val="DAD1E6"/>
                </a:solidFill>
                <a:latin typeface="Fira Sans" pitchFamily="34" charset="0"/>
                <a:ea typeface="Fira Sans" pitchFamily="34" charset="-122"/>
                <a:cs typeface="Fira Sans" pitchFamily="34" charset="-120"/>
              </a:rPr>
              <a:t>Kitchen Vision is an intelligent cooking assistance application developed using Python and Streamlit framework. The system analyses pantry images using computer vision and AI techniques to generate practical cooking insights.</a:t>
            </a:r>
            <a:endParaRPr lang="en-US" sz="1750" dirty="0"/>
          </a:p>
        </p:txBody>
      </p:sp>
      <p:sp>
        <p:nvSpPr>
          <p:cNvPr id="5" name="Text 3"/>
          <p:cNvSpPr/>
          <p:nvPr/>
        </p:nvSpPr>
        <p:spPr>
          <a:xfrm>
            <a:off x="7599521" y="3356610"/>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F94CAF"/>
                </a:solidFill>
                <a:latin typeface="Inconsolata Bold" pitchFamily="34" charset="0"/>
                <a:ea typeface="Inconsolata Bold" pitchFamily="34" charset="-122"/>
                <a:cs typeface="Inconsolata Bold" pitchFamily="34" charset="-120"/>
              </a:rPr>
              <a:t>Key Capabilities</a:t>
            </a:r>
            <a:endParaRPr lang="en-US" sz="2200" dirty="0"/>
          </a:p>
        </p:txBody>
      </p:sp>
      <p:sp>
        <p:nvSpPr>
          <p:cNvPr id="6" name="Text 4"/>
          <p:cNvSpPr/>
          <p:nvPr/>
        </p:nvSpPr>
        <p:spPr>
          <a:xfrm>
            <a:off x="7599521" y="3937754"/>
            <a:ext cx="6244709" cy="2131695"/>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DAD1E6"/>
                </a:solidFill>
                <a:latin typeface="Fira Sans" pitchFamily="34" charset="0"/>
                <a:ea typeface="Fira Sans" pitchFamily="34" charset="-122"/>
                <a:cs typeface="Fira Sans" pitchFamily="34" charset="-120"/>
              </a:rPr>
              <a:t>Upload pantry image for analysis</a:t>
            </a:r>
            <a:endParaRPr lang="en-US" sz="1750" dirty="0"/>
          </a:p>
          <a:p>
            <a:pPr algn="l" marL="342900" indent="-342900">
              <a:lnSpc>
                <a:spcPts val="2850"/>
              </a:lnSpc>
              <a:buSzPct val="100000"/>
              <a:buChar char="•"/>
            </a:pPr>
            <a:r>
              <a:rPr lang="en-US" sz="1750" dirty="0">
                <a:solidFill>
                  <a:srgbClr val="DAD1E6"/>
                </a:solidFill>
                <a:latin typeface="Fira Sans" pitchFamily="34" charset="0"/>
                <a:ea typeface="Fira Sans" pitchFamily="34" charset="-122"/>
                <a:cs typeface="Fira Sans" pitchFamily="34" charset="-120"/>
              </a:rPr>
              <a:t>Automatic food item detection</a:t>
            </a:r>
            <a:endParaRPr lang="en-US" sz="1750" dirty="0"/>
          </a:p>
          <a:p>
            <a:pPr algn="l" marL="342900" indent="-342900">
              <a:lnSpc>
                <a:spcPts val="2850"/>
              </a:lnSpc>
              <a:buSzPct val="100000"/>
              <a:buChar char="•"/>
            </a:pPr>
            <a:r>
              <a:rPr lang="en-US" sz="1750" dirty="0">
                <a:solidFill>
                  <a:srgbClr val="DAD1E6"/>
                </a:solidFill>
                <a:latin typeface="Fira Sans" pitchFamily="34" charset="0"/>
                <a:ea typeface="Fira Sans" pitchFamily="34" charset="-122"/>
                <a:cs typeface="Fira Sans" pitchFamily="34" charset="-120"/>
              </a:rPr>
              <a:t>Smart recipe generation</a:t>
            </a:r>
            <a:endParaRPr lang="en-US" sz="1750" dirty="0"/>
          </a:p>
          <a:p>
            <a:pPr algn="l" marL="342900" indent="-342900">
              <a:lnSpc>
                <a:spcPts val="2850"/>
              </a:lnSpc>
              <a:buSzPct val="100000"/>
              <a:buChar char="•"/>
            </a:pPr>
            <a:r>
              <a:rPr lang="en-US" sz="1750" dirty="0">
                <a:solidFill>
                  <a:srgbClr val="DAD1E6"/>
                </a:solidFill>
                <a:latin typeface="Fira Sans" pitchFamily="34" charset="0"/>
                <a:ea typeface="Fira Sans" pitchFamily="34" charset="-122"/>
                <a:cs typeface="Fira Sans" pitchFamily="34" charset="-120"/>
              </a:rPr>
              <a:t>Health scoring and nutrition evaluation</a:t>
            </a:r>
            <a:endParaRPr lang="en-US" sz="1750" dirty="0"/>
          </a:p>
          <a:p>
            <a:pPr algn="l" marL="342900" indent="-342900">
              <a:lnSpc>
                <a:spcPts val="2850"/>
              </a:lnSpc>
              <a:buSzPct val="100000"/>
              <a:buChar char="•"/>
            </a:pPr>
            <a:r>
              <a:rPr lang="en-US" sz="1750" dirty="0">
                <a:solidFill>
                  <a:srgbClr val="DAD1E6"/>
                </a:solidFill>
                <a:latin typeface="Fira Sans" pitchFamily="34" charset="0"/>
                <a:ea typeface="Fira Sans" pitchFamily="34" charset="-122"/>
                <a:cs typeface="Fira Sans" pitchFamily="34" charset="-120"/>
              </a:rPr>
              <a:t>Grocery list and substitution suggestions</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977741"/>
            <a:ext cx="5670590" cy="708779"/>
          </a:xfrm>
          <a:prstGeom prst="rect">
            <a:avLst/>
          </a:prstGeom>
          <a:noFill/>
          <a:ln/>
        </p:spPr>
        <p:txBody>
          <a:bodyPr wrap="none" lIns="0" tIns="0" rIns="0" bIns="0" rtlCol="0" anchor="t"/>
          <a:lstStyle/>
          <a:p>
            <a:pPr algn="l" indent="0" marL="0">
              <a:lnSpc>
                <a:spcPts val="5550"/>
              </a:lnSpc>
              <a:buNone/>
            </a:pPr>
            <a:r>
              <a:rPr lang="en-US" sz="4450" b="1" dirty="0">
                <a:solidFill>
                  <a:srgbClr val="F94CAF"/>
                </a:solidFill>
                <a:latin typeface="Inconsolata Bold" pitchFamily="34" charset="0"/>
                <a:ea typeface="Inconsolata Bold" pitchFamily="34" charset="-122"/>
                <a:cs typeface="Inconsolata Bold" pitchFamily="34" charset="-120"/>
              </a:rPr>
              <a:t>System Architecture</a:t>
            </a:r>
            <a:endParaRPr lang="en-US" sz="4450" dirty="0"/>
          </a:p>
        </p:txBody>
      </p:sp>
      <p:sp>
        <p:nvSpPr>
          <p:cNvPr id="3" name="Text 1"/>
          <p:cNvSpPr/>
          <p:nvPr/>
        </p:nvSpPr>
        <p:spPr>
          <a:xfrm>
            <a:off x="793790" y="2140148"/>
            <a:ext cx="226814" cy="283488"/>
          </a:xfrm>
          <a:prstGeom prst="rect">
            <a:avLst/>
          </a:prstGeom>
          <a:noFill/>
          <a:ln/>
        </p:spPr>
        <p:txBody>
          <a:bodyPr wrap="none" lIns="0" tIns="0" rIns="0" bIns="0" rtlCol="0" anchor="t"/>
          <a:lstStyle/>
          <a:p>
            <a:pPr algn="l" indent="0" marL="0">
              <a:lnSpc>
                <a:spcPts val="2850"/>
              </a:lnSpc>
              <a:buNone/>
            </a:pPr>
            <a:r>
              <a:rPr lang="en-US" sz="1750" dirty="0">
                <a:solidFill>
                  <a:srgbClr val="DAD1E6"/>
                </a:solidFill>
                <a:latin typeface="Inconsolata Light" pitchFamily="34" charset="0"/>
                <a:ea typeface="Inconsolata Light" pitchFamily="34" charset="-122"/>
                <a:cs typeface="Inconsolata Light" pitchFamily="34" charset="-120"/>
              </a:rPr>
              <a:t>01</a:t>
            </a:r>
            <a:endParaRPr lang="en-US" sz="1750" dirty="0"/>
          </a:p>
        </p:txBody>
      </p:sp>
      <p:pic>
        <p:nvPicPr>
          <p:cNvPr id="4" name="Image 0" descr="preencoded.png">    </p:cNvPr>
          <p:cNvPicPr>
            <a:picLocks noChangeAspect="1"/>
          </p:cNvPicPr>
          <p:nvPr/>
        </p:nvPicPr>
        <p:blipFill>
          <a:blip r:embed="rId1"/>
          <a:stretch>
            <a:fillRect/>
          </a:stretch>
        </p:blipFill>
        <p:spPr>
          <a:xfrm>
            <a:off x="793790" y="2495193"/>
            <a:ext cx="6407944" cy="30480"/>
          </a:xfrm>
          <a:prstGeom prst="rect">
            <a:avLst/>
          </a:prstGeom>
        </p:spPr>
      </p:pic>
      <p:sp>
        <p:nvSpPr>
          <p:cNvPr id="5" name="Text 2"/>
          <p:cNvSpPr/>
          <p:nvPr/>
        </p:nvSpPr>
        <p:spPr>
          <a:xfrm>
            <a:off x="793790" y="2669500"/>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DAD1E6"/>
                </a:solidFill>
                <a:latin typeface="Inconsolata Bold" pitchFamily="34" charset="0"/>
                <a:ea typeface="Inconsolata Bold" pitchFamily="34" charset="-122"/>
                <a:cs typeface="Inconsolata Bold" pitchFamily="34" charset="-120"/>
              </a:rPr>
              <a:t>Frontend Interface</a:t>
            </a:r>
            <a:endParaRPr lang="en-US" sz="2200" dirty="0"/>
          </a:p>
        </p:txBody>
      </p:sp>
      <p:sp>
        <p:nvSpPr>
          <p:cNvPr id="6" name="Text 3"/>
          <p:cNvSpPr/>
          <p:nvPr/>
        </p:nvSpPr>
        <p:spPr>
          <a:xfrm>
            <a:off x="793790" y="3159919"/>
            <a:ext cx="6407944" cy="362903"/>
          </a:xfrm>
          <a:prstGeom prst="rect">
            <a:avLst/>
          </a:prstGeom>
          <a:noFill/>
          <a:ln/>
        </p:spPr>
        <p:txBody>
          <a:bodyPr wrap="none" lIns="0" tIns="0" rIns="0" bIns="0" rtlCol="0" anchor="t"/>
          <a:lstStyle/>
          <a:p>
            <a:pPr algn="l" indent="0" marL="0">
              <a:lnSpc>
                <a:spcPts val="2850"/>
              </a:lnSpc>
              <a:buNone/>
            </a:pPr>
            <a:r>
              <a:rPr lang="en-US" sz="1750" dirty="0">
                <a:solidFill>
                  <a:srgbClr val="DAD1E6"/>
                </a:solidFill>
                <a:latin typeface="Fira Sans" pitchFamily="34" charset="0"/>
                <a:ea typeface="Fira Sans" pitchFamily="34" charset="-122"/>
                <a:cs typeface="Fira Sans" pitchFamily="34" charset="-120"/>
              </a:rPr>
              <a:t>Streamlit-based UI for image upload and results display</a:t>
            </a:r>
            <a:endParaRPr lang="en-US" sz="1750" dirty="0"/>
          </a:p>
        </p:txBody>
      </p:sp>
      <p:sp>
        <p:nvSpPr>
          <p:cNvPr id="7" name="Text 4"/>
          <p:cNvSpPr/>
          <p:nvPr/>
        </p:nvSpPr>
        <p:spPr>
          <a:xfrm>
            <a:off x="7428548" y="2140148"/>
            <a:ext cx="226814" cy="283488"/>
          </a:xfrm>
          <a:prstGeom prst="rect">
            <a:avLst/>
          </a:prstGeom>
          <a:noFill/>
          <a:ln/>
        </p:spPr>
        <p:txBody>
          <a:bodyPr wrap="none" lIns="0" tIns="0" rIns="0" bIns="0" rtlCol="0" anchor="t"/>
          <a:lstStyle/>
          <a:p>
            <a:pPr algn="l" indent="0" marL="0">
              <a:lnSpc>
                <a:spcPts val="2850"/>
              </a:lnSpc>
              <a:buNone/>
            </a:pPr>
            <a:r>
              <a:rPr lang="en-US" sz="1750" dirty="0">
                <a:solidFill>
                  <a:srgbClr val="DAD1E6"/>
                </a:solidFill>
                <a:latin typeface="Inconsolata Light" pitchFamily="34" charset="0"/>
                <a:ea typeface="Inconsolata Light" pitchFamily="34" charset="-122"/>
                <a:cs typeface="Inconsolata Light" pitchFamily="34" charset="-120"/>
              </a:rPr>
              <a:t>02</a:t>
            </a:r>
            <a:endParaRPr lang="en-US" sz="1750" dirty="0"/>
          </a:p>
        </p:txBody>
      </p:sp>
      <p:pic>
        <p:nvPicPr>
          <p:cNvPr id="8" name="Image 1" descr="preencoded.png">    </p:cNvPr>
          <p:cNvPicPr>
            <a:picLocks noChangeAspect="1"/>
          </p:cNvPicPr>
          <p:nvPr/>
        </p:nvPicPr>
        <p:blipFill>
          <a:blip r:embed="rId2"/>
          <a:stretch>
            <a:fillRect/>
          </a:stretch>
        </p:blipFill>
        <p:spPr>
          <a:xfrm>
            <a:off x="7428548" y="2495193"/>
            <a:ext cx="6408063" cy="30480"/>
          </a:xfrm>
          <a:prstGeom prst="rect">
            <a:avLst/>
          </a:prstGeom>
        </p:spPr>
      </p:pic>
      <p:sp>
        <p:nvSpPr>
          <p:cNvPr id="9" name="Text 5"/>
          <p:cNvSpPr/>
          <p:nvPr/>
        </p:nvSpPr>
        <p:spPr>
          <a:xfrm>
            <a:off x="7428548" y="2669500"/>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DAD1E6"/>
                </a:solidFill>
                <a:latin typeface="Inconsolata Bold" pitchFamily="34" charset="0"/>
                <a:ea typeface="Inconsolata Bold" pitchFamily="34" charset="-122"/>
                <a:cs typeface="Inconsolata Bold" pitchFamily="34" charset="-120"/>
              </a:rPr>
              <a:t>Image Processing</a:t>
            </a:r>
            <a:endParaRPr lang="en-US" sz="2200" dirty="0"/>
          </a:p>
        </p:txBody>
      </p:sp>
      <p:sp>
        <p:nvSpPr>
          <p:cNvPr id="10" name="Text 6"/>
          <p:cNvSpPr/>
          <p:nvPr/>
        </p:nvSpPr>
        <p:spPr>
          <a:xfrm>
            <a:off x="7428548" y="3159919"/>
            <a:ext cx="6408063" cy="362903"/>
          </a:xfrm>
          <a:prstGeom prst="rect">
            <a:avLst/>
          </a:prstGeom>
          <a:noFill/>
          <a:ln/>
        </p:spPr>
        <p:txBody>
          <a:bodyPr wrap="none" lIns="0" tIns="0" rIns="0" bIns="0" rtlCol="0" anchor="t"/>
          <a:lstStyle/>
          <a:p>
            <a:pPr algn="l" indent="0" marL="0">
              <a:lnSpc>
                <a:spcPts val="2850"/>
              </a:lnSpc>
              <a:buNone/>
            </a:pPr>
            <a:r>
              <a:rPr lang="en-US" sz="1750" dirty="0">
                <a:solidFill>
                  <a:srgbClr val="DAD1E6"/>
                </a:solidFill>
                <a:latin typeface="Fira Sans" pitchFamily="34" charset="0"/>
                <a:ea typeface="Fira Sans" pitchFamily="34" charset="-122"/>
                <a:cs typeface="Fira Sans" pitchFamily="34" charset="-120"/>
              </a:rPr>
              <a:t>Enhancement, resizing, and preprocessing</a:t>
            </a:r>
            <a:endParaRPr lang="en-US" sz="1750" dirty="0"/>
          </a:p>
        </p:txBody>
      </p:sp>
      <p:sp>
        <p:nvSpPr>
          <p:cNvPr id="11" name="Text 7"/>
          <p:cNvSpPr/>
          <p:nvPr/>
        </p:nvSpPr>
        <p:spPr>
          <a:xfrm>
            <a:off x="793790" y="3919657"/>
            <a:ext cx="226814" cy="283488"/>
          </a:xfrm>
          <a:prstGeom prst="rect">
            <a:avLst/>
          </a:prstGeom>
          <a:noFill/>
          <a:ln/>
        </p:spPr>
        <p:txBody>
          <a:bodyPr wrap="none" lIns="0" tIns="0" rIns="0" bIns="0" rtlCol="0" anchor="t"/>
          <a:lstStyle/>
          <a:p>
            <a:pPr algn="l" indent="0" marL="0">
              <a:lnSpc>
                <a:spcPts val="2850"/>
              </a:lnSpc>
              <a:buNone/>
            </a:pPr>
            <a:r>
              <a:rPr lang="en-US" sz="1750" dirty="0">
                <a:solidFill>
                  <a:srgbClr val="DAD1E6"/>
                </a:solidFill>
                <a:latin typeface="Inconsolata Light" pitchFamily="34" charset="0"/>
                <a:ea typeface="Inconsolata Light" pitchFamily="34" charset="-122"/>
                <a:cs typeface="Inconsolata Light" pitchFamily="34" charset="-120"/>
              </a:rPr>
              <a:t>03</a:t>
            </a:r>
            <a:endParaRPr lang="en-US" sz="1750" dirty="0"/>
          </a:p>
        </p:txBody>
      </p:sp>
      <p:pic>
        <p:nvPicPr>
          <p:cNvPr id="12" name="Image 2" descr="preencoded.png">    </p:cNvPr>
          <p:cNvPicPr>
            <a:picLocks noChangeAspect="1"/>
          </p:cNvPicPr>
          <p:nvPr/>
        </p:nvPicPr>
        <p:blipFill>
          <a:blip r:embed="rId3"/>
          <a:stretch>
            <a:fillRect/>
          </a:stretch>
        </p:blipFill>
        <p:spPr>
          <a:xfrm>
            <a:off x="793790" y="4251960"/>
            <a:ext cx="6407944" cy="30480"/>
          </a:xfrm>
          <a:prstGeom prst="rect">
            <a:avLst/>
          </a:prstGeom>
        </p:spPr>
      </p:pic>
      <p:sp>
        <p:nvSpPr>
          <p:cNvPr id="13" name="Text 8"/>
          <p:cNvSpPr/>
          <p:nvPr/>
        </p:nvSpPr>
        <p:spPr>
          <a:xfrm>
            <a:off x="793790" y="4449008"/>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DAD1E6"/>
                </a:solidFill>
                <a:latin typeface="Inconsolata Bold" pitchFamily="34" charset="0"/>
                <a:ea typeface="Inconsolata Bold" pitchFamily="34" charset="-122"/>
                <a:cs typeface="Inconsolata Bold" pitchFamily="34" charset="-120"/>
              </a:rPr>
              <a:t>Vision Service</a:t>
            </a:r>
            <a:endParaRPr lang="en-US" sz="2200" dirty="0"/>
          </a:p>
        </p:txBody>
      </p:sp>
      <p:sp>
        <p:nvSpPr>
          <p:cNvPr id="14" name="Text 9"/>
          <p:cNvSpPr/>
          <p:nvPr/>
        </p:nvSpPr>
        <p:spPr>
          <a:xfrm>
            <a:off x="793790" y="4939427"/>
            <a:ext cx="6407944" cy="362903"/>
          </a:xfrm>
          <a:prstGeom prst="rect">
            <a:avLst/>
          </a:prstGeom>
          <a:noFill/>
          <a:ln/>
        </p:spPr>
        <p:txBody>
          <a:bodyPr wrap="none" lIns="0" tIns="0" rIns="0" bIns="0" rtlCol="0" anchor="t"/>
          <a:lstStyle/>
          <a:p>
            <a:pPr algn="l" indent="0" marL="0">
              <a:lnSpc>
                <a:spcPts val="2850"/>
              </a:lnSpc>
              <a:buNone/>
            </a:pPr>
            <a:r>
              <a:rPr lang="en-US" sz="1750" dirty="0">
                <a:solidFill>
                  <a:srgbClr val="DAD1E6"/>
                </a:solidFill>
                <a:latin typeface="Fira Sans" pitchFamily="34" charset="0"/>
                <a:ea typeface="Fira Sans" pitchFamily="34" charset="-122"/>
                <a:cs typeface="Fira Sans" pitchFamily="34" charset="-120"/>
              </a:rPr>
              <a:t>AI-powered pantry item detection</a:t>
            </a:r>
            <a:endParaRPr lang="en-US" sz="1750" dirty="0"/>
          </a:p>
        </p:txBody>
      </p:sp>
      <p:sp>
        <p:nvSpPr>
          <p:cNvPr id="15" name="Text 10"/>
          <p:cNvSpPr/>
          <p:nvPr/>
        </p:nvSpPr>
        <p:spPr>
          <a:xfrm>
            <a:off x="7428548" y="3919657"/>
            <a:ext cx="226814" cy="283488"/>
          </a:xfrm>
          <a:prstGeom prst="rect">
            <a:avLst/>
          </a:prstGeom>
          <a:noFill/>
          <a:ln/>
        </p:spPr>
        <p:txBody>
          <a:bodyPr wrap="none" lIns="0" tIns="0" rIns="0" bIns="0" rtlCol="0" anchor="t"/>
          <a:lstStyle/>
          <a:p>
            <a:pPr algn="l" indent="0" marL="0">
              <a:lnSpc>
                <a:spcPts val="2850"/>
              </a:lnSpc>
              <a:buNone/>
            </a:pPr>
            <a:r>
              <a:rPr lang="en-US" sz="1750" dirty="0">
                <a:solidFill>
                  <a:srgbClr val="DAD1E6"/>
                </a:solidFill>
                <a:latin typeface="Inconsolata Light" pitchFamily="34" charset="0"/>
                <a:ea typeface="Inconsolata Light" pitchFamily="34" charset="-122"/>
                <a:cs typeface="Inconsolata Light" pitchFamily="34" charset="-120"/>
              </a:rPr>
              <a:t>04</a:t>
            </a:r>
            <a:endParaRPr lang="en-US" sz="1750" dirty="0"/>
          </a:p>
        </p:txBody>
      </p:sp>
      <p:pic>
        <p:nvPicPr>
          <p:cNvPr id="16" name="Image 3" descr="preencoded.png">    </p:cNvPr>
          <p:cNvPicPr>
            <a:picLocks noChangeAspect="1"/>
          </p:cNvPicPr>
          <p:nvPr/>
        </p:nvPicPr>
        <p:blipFill>
          <a:blip r:embed="rId4"/>
          <a:stretch>
            <a:fillRect/>
          </a:stretch>
        </p:blipFill>
        <p:spPr>
          <a:xfrm>
            <a:off x="7428548" y="4251960"/>
            <a:ext cx="6408063" cy="30480"/>
          </a:xfrm>
          <a:prstGeom prst="rect">
            <a:avLst/>
          </a:prstGeom>
        </p:spPr>
      </p:pic>
      <p:sp>
        <p:nvSpPr>
          <p:cNvPr id="17" name="Text 11"/>
          <p:cNvSpPr/>
          <p:nvPr/>
        </p:nvSpPr>
        <p:spPr>
          <a:xfrm>
            <a:off x="7428548" y="4449008"/>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DAD1E6"/>
                </a:solidFill>
                <a:latin typeface="Inconsolata Bold" pitchFamily="34" charset="0"/>
                <a:ea typeface="Inconsolata Bold" pitchFamily="34" charset="-122"/>
                <a:cs typeface="Inconsolata Bold" pitchFamily="34" charset="-120"/>
              </a:rPr>
              <a:t>Categorization</a:t>
            </a:r>
            <a:endParaRPr lang="en-US" sz="2200" dirty="0"/>
          </a:p>
        </p:txBody>
      </p:sp>
      <p:sp>
        <p:nvSpPr>
          <p:cNvPr id="18" name="Text 12"/>
          <p:cNvSpPr/>
          <p:nvPr/>
        </p:nvSpPr>
        <p:spPr>
          <a:xfrm>
            <a:off x="7428548" y="4939427"/>
            <a:ext cx="6408063" cy="362903"/>
          </a:xfrm>
          <a:prstGeom prst="rect">
            <a:avLst/>
          </a:prstGeom>
          <a:noFill/>
          <a:ln/>
        </p:spPr>
        <p:txBody>
          <a:bodyPr wrap="none" lIns="0" tIns="0" rIns="0" bIns="0" rtlCol="0" anchor="t"/>
          <a:lstStyle/>
          <a:p>
            <a:pPr algn="l" indent="0" marL="0">
              <a:lnSpc>
                <a:spcPts val="2850"/>
              </a:lnSpc>
              <a:buNone/>
            </a:pPr>
            <a:r>
              <a:rPr lang="en-US" sz="1750" dirty="0">
                <a:solidFill>
                  <a:srgbClr val="DAD1E6"/>
                </a:solidFill>
                <a:latin typeface="Fira Sans" pitchFamily="34" charset="0"/>
                <a:ea typeface="Fira Sans" pitchFamily="34" charset="-122"/>
                <a:cs typeface="Fira Sans" pitchFamily="34" charset="-120"/>
              </a:rPr>
              <a:t>Storage type classification</a:t>
            </a:r>
            <a:endParaRPr lang="en-US" sz="1750" dirty="0"/>
          </a:p>
        </p:txBody>
      </p:sp>
      <p:sp>
        <p:nvSpPr>
          <p:cNvPr id="19" name="Text 13"/>
          <p:cNvSpPr/>
          <p:nvPr/>
        </p:nvSpPr>
        <p:spPr>
          <a:xfrm>
            <a:off x="793790" y="5699165"/>
            <a:ext cx="226814" cy="283488"/>
          </a:xfrm>
          <a:prstGeom prst="rect">
            <a:avLst/>
          </a:prstGeom>
          <a:noFill/>
          <a:ln/>
        </p:spPr>
        <p:txBody>
          <a:bodyPr wrap="none" lIns="0" tIns="0" rIns="0" bIns="0" rtlCol="0" anchor="t"/>
          <a:lstStyle/>
          <a:p>
            <a:pPr algn="l" indent="0" marL="0">
              <a:lnSpc>
                <a:spcPts val="2850"/>
              </a:lnSpc>
              <a:buNone/>
            </a:pPr>
            <a:r>
              <a:rPr lang="en-US" sz="1750" dirty="0">
                <a:solidFill>
                  <a:srgbClr val="DAD1E6"/>
                </a:solidFill>
                <a:latin typeface="Inconsolata Light" pitchFamily="34" charset="0"/>
                <a:ea typeface="Inconsolata Light" pitchFamily="34" charset="-122"/>
                <a:cs typeface="Inconsolata Light" pitchFamily="34" charset="-120"/>
              </a:rPr>
              <a:t>05</a:t>
            </a:r>
            <a:endParaRPr lang="en-US" sz="1750" dirty="0"/>
          </a:p>
        </p:txBody>
      </p:sp>
      <p:pic>
        <p:nvPicPr>
          <p:cNvPr id="20" name="Image 4" descr="preencoded.png">    </p:cNvPr>
          <p:cNvPicPr>
            <a:picLocks noChangeAspect="1"/>
          </p:cNvPicPr>
          <p:nvPr/>
        </p:nvPicPr>
        <p:blipFill>
          <a:blip r:embed="rId5"/>
          <a:stretch>
            <a:fillRect/>
          </a:stretch>
        </p:blipFill>
        <p:spPr>
          <a:xfrm>
            <a:off x="793790" y="6008846"/>
            <a:ext cx="6407944" cy="30480"/>
          </a:xfrm>
          <a:prstGeom prst="rect">
            <a:avLst/>
          </a:prstGeom>
        </p:spPr>
      </p:pic>
      <p:sp>
        <p:nvSpPr>
          <p:cNvPr id="21" name="Text 14"/>
          <p:cNvSpPr/>
          <p:nvPr/>
        </p:nvSpPr>
        <p:spPr>
          <a:xfrm>
            <a:off x="793790" y="6228517"/>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DAD1E6"/>
                </a:solidFill>
                <a:latin typeface="Inconsolata Bold" pitchFamily="34" charset="0"/>
                <a:ea typeface="Inconsolata Bold" pitchFamily="34" charset="-122"/>
                <a:cs typeface="Inconsolata Bold" pitchFamily="34" charset="-120"/>
              </a:rPr>
              <a:t>Recipe Generation</a:t>
            </a:r>
            <a:endParaRPr lang="en-US" sz="2200" dirty="0"/>
          </a:p>
        </p:txBody>
      </p:sp>
      <p:sp>
        <p:nvSpPr>
          <p:cNvPr id="22" name="Text 15"/>
          <p:cNvSpPr/>
          <p:nvPr/>
        </p:nvSpPr>
        <p:spPr>
          <a:xfrm>
            <a:off x="793790" y="6718935"/>
            <a:ext cx="6407944" cy="362903"/>
          </a:xfrm>
          <a:prstGeom prst="rect">
            <a:avLst/>
          </a:prstGeom>
          <a:noFill/>
          <a:ln/>
        </p:spPr>
        <p:txBody>
          <a:bodyPr wrap="none" lIns="0" tIns="0" rIns="0" bIns="0" rtlCol="0" anchor="t"/>
          <a:lstStyle/>
          <a:p>
            <a:pPr algn="l" indent="0" marL="0">
              <a:lnSpc>
                <a:spcPts val="2850"/>
              </a:lnSpc>
              <a:buNone/>
            </a:pPr>
            <a:r>
              <a:rPr lang="en-US" sz="1750" dirty="0">
                <a:solidFill>
                  <a:srgbClr val="DAD1E6"/>
                </a:solidFill>
                <a:latin typeface="Fira Sans" pitchFamily="34" charset="0"/>
                <a:ea typeface="Fira Sans" pitchFamily="34" charset="-122"/>
                <a:cs typeface="Fira Sans" pitchFamily="34" charset="-120"/>
              </a:rPr>
              <a:t>Three-step recipes with instructions</a:t>
            </a:r>
            <a:endParaRPr lang="en-US" sz="1750" dirty="0"/>
          </a:p>
        </p:txBody>
      </p:sp>
      <p:sp>
        <p:nvSpPr>
          <p:cNvPr id="23" name="Text 16"/>
          <p:cNvSpPr/>
          <p:nvPr/>
        </p:nvSpPr>
        <p:spPr>
          <a:xfrm>
            <a:off x="7428548" y="5699165"/>
            <a:ext cx="226814" cy="283488"/>
          </a:xfrm>
          <a:prstGeom prst="rect">
            <a:avLst/>
          </a:prstGeom>
          <a:noFill/>
          <a:ln/>
        </p:spPr>
        <p:txBody>
          <a:bodyPr wrap="none" lIns="0" tIns="0" rIns="0" bIns="0" rtlCol="0" anchor="t"/>
          <a:lstStyle/>
          <a:p>
            <a:pPr algn="l" indent="0" marL="0">
              <a:lnSpc>
                <a:spcPts val="2850"/>
              </a:lnSpc>
              <a:buNone/>
            </a:pPr>
            <a:r>
              <a:rPr lang="en-US" sz="1750" dirty="0">
                <a:solidFill>
                  <a:srgbClr val="DAD1E6"/>
                </a:solidFill>
                <a:latin typeface="Inconsolata Light" pitchFamily="34" charset="0"/>
                <a:ea typeface="Inconsolata Light" pitchFamily="34" charset="-122"/>
                <a:cs typeface="Inconsolata Light" pitchFamily="34" charset="-120"/>
              </a:rPr>
              <a:t>06</a:t>
            </a:r>
            <a:endParaRPr lang="en-US" sz="1750" dirty="0"/>
          </a:p>
        </p:txBody>
      </p:sp>
      <p:pic>
        <p:nvPicPr>
          <p:cNvPr id="24" name="Image 5" descr="preencoded.png">    </p:cNvPr>
          <p:cNvPicPr>
            <a:picLocks noChangeAspect="1"/>
          </p:cNvPicPr>
          <p:nvPr/>
        </p:nvPicPr>
        <p:blipFill>
          <a:blip r:embed="rId6"/>
          <a:stretch>
            <a:fillRect/>
          </a:stretch>
        </p:blipFill>
        <p:spPr>
          <a:xfrm>
            <a:off x="7428548" y="6008846"/>
            <a:ext cx="6408063" cy="30480"/>
          </a:xfrm>
          <a:prstGeom prst="rect">
            <a:avLst/>
          </a:prstGeom>
        </p:spPr>
      </p:pic>
      <p:sp>
        <p:nvSpPr>
          <p:cNvPr id="25" name="Text 17"/>
          <p:cNvSpPr/>
          <p:nvPr/>
        </p:nvSpPr>
        <p:spPr>
          <a:xfrm>
            <a:off x="7428548" y="6228517"/>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DAD1E6"/>
                </a:solidFill>
                <a:latin typeface="Inconsolata Bold" pitchFamily="34" charset="0"/>
                <a:ea typeface="Inconsolata Bold" pitchFamily="34" charset="-122"/>
                <a:cs typeface="Inconsolata Bold" pitchFamily="34" charset="-120"/>
              </a:rPr>
              <a:t>Health Evaluation</a:t>
            </a:r>
            <a:endParaRPr lang="en-US" sz="2200" dirty="0"/>
          </a:p>
        </p:txBody>
      </p:sp>
      <p:sp>
        <p:nvSpPr>
          <p:cNvPr id="26" name="Text 18"/>
          <p:cNvSpPr/>
          <p:nvPr/>
        </p:nvSpPr>
        <p:spPr>
          <a:xfrm>
            <a:off x="7428548" y="6718935"/>
            <a:ext cx="6408063" cy="362903"/>
          </a:xfrm>
          <a:prstGeom prst="rect">
            <a:avLst/>
          </a:prstGeom>
          <a:noFill/>
          <a:ln/>
        </p:spPr>
        <p:txBody>
          <a:bodyPr wrap="none" lIns="0" tIns="0" rIns="0" bIns="0" rtlCol="0" anchor="t"/>
          <a:lstStyle/>
          <a:p>
            <a:pPr algn="l" indent="0" marL="0">
              <a:lnSpc>
                <a:spcPts val="2850"/>
              </a:lnSpc>
              <a:buNone/>
            </a:pPr>
            <a:r>
              <a:rPr lang="en-US" sz="1750" dirty="0">
                <a:solidFill>
                  <a:srgbClr val="DAD1E6"/>
                </a:solidFill>
                <a:latin typeface="Fira Sans" pitchFamily="34" charset="0"/>
                <a:ea typeface="Fira Sans" pitchFamily="34" charset="-122"/>
                <a:cs typeface="Fira Sans" pitchFamily="34" charset="-120"/>
              </a:rPr>
              <a:t>Nutritional scoring and analysis</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892016"/>
            <a:ext cx="5670590" cy="708779"/>
          </a:xfrm>
          <a:prstGeom prst="rect">
            <a:avLst/>
          </a:prstGeom>
          <a:noFill/>
          <a:ln/>
        </p:spPr>
        <p:txBody>
          <a:bodyPr wrap="none" lIns="0" tIns="0" rIns="0" bIns="0" rtlCol="0" anchor="t"/>
          <a:lstStyle/>
          <a:p>
            <a:pPr algn="l" indent="0" marL="0">
              <a:lnSpc>
                <a:spcPts val="5550"/>
              </a:lnSpc>
              <a:buNone/>
            </a:pPr>
            <a:r>
              <a:rPr lang="en-US" sz="4450" b="1" dirty="0">
                <a:solidFill>
                  <a:srgbClr val="F94CAF"/>
                </a:solidFill>
                <a:latin typeface="Inconsolata Bold" pitchFamily="34" charset="0"/>
                <a:ea typeface="Inconsolata Bold" pitchFamily="34" charset="-122"/>
                <a:cs typeface="Inconsolata Bold" pitchFamily="34" charset="-120"/>
              </a:rPr>
              <a:t>Core Technologies</a:t>
            </a:r>
            <a:endParaRPr lang="en-US" sz="4450" dirty="0"/>
          </a:p>
        </p:txBody>
      </p:sp>
      <p:sp>
        <p:nvSpPr>
          <p:cNvPr id="3" name="Shape 1"/>
          <p:cNvSpPr/>
          <p:nvPr/>
        </p:nvSpPr>
        <p:spPr>
          <a:xfrm>
            <a:off x="793790" y="2054423"/>
            <a:ext cx="6407944" cy="1730812"/>
          </a:xfrm>
          <a:prstGeom prst="roundRect">
            <a:avLst>
              <a:gd name="adj" fmla="val 8453"/>
            </a:avLst>
          </a:prstGeom>
          <a:solidFill>
            <a:srgbClr val="241631"/>
          </a:solidFill>
          <a:ln w="30480">
            <a:solidFill>
              <a:srgbClr val="5C4E69"/>
            </a:solidFill>
            <a:prstDash val="solid"/>
          </a:ln>
        </p:spPr>
      </p:sp>
      <p:pic>
        <p:nvPicPr>
          <p:cNvPr id="4" name="Image 0" descr="preencoded.png">    </p:cNvPr>
          <p:cNvPicPr>
            <a:picLocks noChangeAspect="1"/>
          </p:cNvPicPr>
          <p:nvPr/>
        </p:nvPicPr>
        <p:blipFill>
          <a:blip r:embed="rId1"/>
          <a:stretch>
            <a:fillRect/>
          </a:stretch>
        </p:blipFill>
        <p:spPr>
          <a:xfrm>
            <a:off x="763310" y="2054423"/>
            <a:ext cx="121920" cy="1730812"/>
          </a:xfrm>
          <a:prstGeom prst="rect">
            <a:avLst/>
          </a:prstGeom>
        </p:spPr>
      </p:pic>
      <p:sp>
        <p:nvSpPr>
          <p:cNvPr id="5" name="Text 2"/>
          <p:cNvSpPr/>
          <p:nvPr/>
        </p:nvSpPr>
        <p:spPr>
          <a:xfrm>
            <a:off x="1142524" y="2311718"/>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DAD1E6"/>
                </a:solidFill>
                <a:latin typeface="Inconsolata Bold" pitchFamily="34" charset="0"/>
                <a:ea typeface="Inconsolata Bold" pitchFamily="34" charset="-122"/>
                <a:cs typeface="Inconsolata Bold" pitchFamily="34" charset="-120"/>
              </a:rPr>
              <a:t>Streamlit</a:t>
            </a:r>
            <a:endParaRPr lang="en-US" sz="2200" dirty="0"/>
          </a:p>
        </p:txBody>
      </p:sp>
      <p:sp>
        <p:nvSpPr>
          <p:cNvPr id="6" name="Text 3"/>
          <p:cNvSpPr/>
          <p:nvPr/>
        </p:nvSpPr>
        <p:spPr>
          <a:xfrm>
            <a:off x="1142524" y="2802136"/>
            <a:ext cx="5801916" cy="725805"/>
          </a:xfrm>
          <a:prstGeom prst="rect">
            <a:avLst/>
          </a:prstGeom>
          <a:noFill/>
          <a:ln/>
        </p:spPr>
        <p:txBody>
          <a:bodyPr wrap="square" lIns="0" tIns="0" rIns="0" bIns="0" rtlCol="0" anchor="t"/>
          <a:lstStyle/>
          <a:p>
            <a:pPr algn="l" indent="0" marL="0">
              <a:lnSpc>
                <a:spcPts val="2850"/>
              </a:lnSpc>
              <a:buNone/>
            </a:pPr>
            <a:r>
              <a:rPr lang="en-US" sz="1750" dirty="0">
                <a:solidFill>
                  <a:srgbClr val="DAD1E6"/>
                </a:solidFill>
                <a:latin typeface="Fira Sans" pitchFamily="34" charset="0"/>
                <a:ea typeface="Fira Sans" pitchFamily="34" charset="-122"/>
                <a:cs typeface="Fira Sans" pitchFamily="34" charset="-120"/>
              </a:rPr>
              <a:t>Frontend framework for interactive interface and result display</a:t>
            </a:r>
            <a:endParaRPr lang="en-US" sz="1750" dirty="0"/>
          </a:p>
        </p:txBody>
      </p:sp>
      <p:sp>
        <p:nvSpPr>
          <p:cNvPr id="7" name="Shape 4"/>
          <p:cNvSpPr/>
          <p:nvPr/>
        </p:nvSpPr>
        <p:spPr>
          <a:xfrm>
            <a:off x="7428548" y="2054423"/>
            <a:ext cx="6408063" cy="1730812"/>
          </a:xfrm>
          <a:prstGeom prst="roundRect">
            <a:avLst>
              <a:gd name="adj" fmla="val 8453"/>
            </a:avLst>
          </a:prstGeom>
          <a:solidFill>
            <a:srgbClr val="241631"/>
          </a:solidFill>
          <a:ln w="30480">
            <a:solidFill>
              <a:srgbClr val="5C4E69"/>
            </a:solidFill>
            <a:prstDash val="solid"/>
          </a:ln>
        </p:spPr>
      </p:sp>
      <p:pic>
        <p:nvPicPr>
          <p:cNvPr id="8" name="Image 1" descr="preencoded.png">    </p:cNvPr>
          <p:cNvPicPr>
            <a:picLocks noChangeAspect="1"/>
          </p:cNvPicPr>
          <p:nvPr/>
        </p:nvPicPr>
        <p:blipFill>
          <a:blip r:embed="rId2"/>
          <a:stretch>
            <a:fillRect/>
          </a:stretch>
        </p:blipFill>
        <p:spPr>
          <a:xfrm>
            <a:off x="7398067" y="2054423"/>
            <a:ext cx="121920" cy="1730812"/>
          </a:xfrm>
          <a:prstGeom prst="rect">
            <a:avLst/>
          </a:prstGeom>
        </p:spPr>
      </p:pic>
      <p:sp>
        <p:nvSpPr>
          <p:cNvPr id="9" name="Text 5"/>
          <p:cNvSpPr/>
          <p:nvPr/>
        </p:nvSpPr>
        <p:spPr>
          <a:xfrm>
            <a:off x="7777282" y="2311718"/>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DAD1E6"/>
                </a:solidFill>
                <a:latin typeface="Inconsolata Bold" pitchFamily="34" charset="0"/>
                <a:ea typeface="Inconsolata Bold" pitchFamily="34" charset="-122"/>
                <a:cs typeface="Inconsolata Bold" pitchFamily="34" charset="-120"/>
              </a:rPr>
              <a:t>Python &amp; Pillow</a:t>
            </a:r>
            <a:endParaRPr lang="en-US" sz="2200" dirty="0"/>
          </a:p>
        </p:txBody>
      </p:sp>
      <p:sp>
        <p:nvSpPr>
          <p:cNvPr id="10" name="Text 6"/>
          <p:cNvSpPr/>
          <p:nvPr/>
        </p:nvSpPr>
        <p:spPr>
          <a:xfrm>
            <a:off x="7777282" y="2802136"/>
            <a:ext cx="5802035" cy="725805"/>
          </a:xfrm>
          <a:prstGeom prst="rect">
            <a:avLst/>
          </a:prstGeom>
          <a:noFill/>
          <a:ln/>
        </p:spPr>
        <p:txBody>
          <a:bodyPr wrap="square" lIns="0" tIns="0" rIns="0" bIns="0" rtlCol="0" anchor="t"/>
          <a:lstStyle/>
          <a:p>
            <a:pPr algn="l" indent="0" marL="0">
              <a:lnSpc>
                <a:spcPts val="2850"/>
              </a:lnSpc>
              <a:buNone/>
            </a:pPr>
            <a:r>
              <a:rPr lang="en-US" sz="1750" dirty="0">
                <a:solidFill>
                  <a:srgbClr val="DAD1E6"/>
                </a:solidFill>
                <a:latin typeface="Fira Sans" pitchFamily="34" charset="0"/>
                <a:ea typeface="Fira Sans" pitchFamily="34" charset="-122"/>
                <a:cs typeface="Fira Sans" pitchFamily="34" charset="-120"/>
              </a:rPr>
              <a:t>Core programming language with image preprocessing capabilities</a:t>
            </a:r>
            <a:endParaRPr lang="en-US" sz="1750" dirty="0"/>
          </a:p>
        </p:txBody>
      </p:sp>
      <p:sp>
        <p:nvSpPr>
          <p:cNvPr id="11" name="Shape 7"/>
          <p:cNvSpPr/>
          <p:nvPr/>
        </p:nvSpPr>
        <p:spPr>
          <a:xfrm>
            <a:off x="793790" y="4012049"/>
            <a:ext cx="6407944" cy="1730812"/>
          </a:xfrm>
          <a:prstGeom prst="roundRect">
            <a:avLst>
              <a:gd name="adj" fmla="val 8453"/>
            </a:avLst>
          </a:prstGeom>
          <a:solidFill>
            <a:srgbClr val="241631"/>
          </a:solidFill>
          <a:ln w="30480">
            <a:solidFill>
              <a:srgbClr val="5C4E69"/>
            </a:solidFill>
            <a:prstDash val="solid"/>
          </a:ln>
        </p:spPr>
      </p:sp>
      <p:pic>
        <p:nvPicPr>
          <p:cNvPr id="12" name="Image 2" descr="preencoded.png">    </p:cNvPr>
          <p:cNvPicPr>
            <a:picLocks noChangeAspect="1"/>
          </p:cNvPicPr>
          <p:nvPr/>
        </p:nvPicPr>
        <p:blipFill>
          <a:blip r:embed="rId3"/>
          <a:stretch>
            <a:fillRect/>
          </a:stretch>
        </p:blipFill>
        <p:spPr>
          <a:xfrm>
            <a:off x="763310" y="4012049"/>
            <a:ext cx="121920" cy="1730812"/>
          </a:xfrm>
          <a:prstGeom prst="rect">
            <a:avLst/>
          </a:prstGeom>
        </p:spPr>
      </p:pic>
      <p:sp>
        <p:nvSpPr>
          <p:cNvPr id="13" name="Text 8"/>
          <p:cNvSpPr/>
          <p:nvPr/>
        </p:nvSpPr>
        <p:spPr>
          <a:xfrm>
            <a:off x="1142524" y="4269343"/>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DAD1E6"/>
                </a:solidFill>
                <a:latin typeface="Inconsolata Bold" pitchFamily="34" charset="0"/>
                <a:ea typeface="Inconsolata Bold" pitchFamily="34" charset="-122"/>
                <a:cs typeface="Inconsolata Bold" pitchFamily="34" charset="-120"/>
              </a:rPr>
              <a:t>Gemini/OpenAI Vision</a:t>
            </a:r>
            <a:endParaRPr lang="en-US" sz="2200" dirty="0"/>
          </a:p>
        </p:txBody>
      </p:sp>
      <p:sp>
        <p:nvSpPr>
          <p:cNvPr id="14" name="Text 9"/>
          <p:cNvSpPr/>
          <p:nvPr/>
        </p:nvSpPr>
        <p:spPr>
          <a:xfrm>
            <a:off x="1142524" y="4759762"/>
            <a:ext cx="5801916" cy="362903"/>
          </a:xfrm>
          <a:prstGeom prst="rect">
            <a:avLst/>
          </a:prstGeom>
          <a:noFill/>
          <a:ln/>
        </p:spPr>
        <p:txBody>
          <a:bodyPr wrap="none" lIns="0" tIns="0" rIns="0" bIns="0" rtlCol="0" anchor="t"/>
          <a:lstStyle/>
          <a:p>
            <a:pPr algn="l" indent="0" marL="0">
              <a:lnSpc>
                <a:spcPts val="2850"/>
              </a:lnSpc>
              <a:buNone/>
            </a:pPr>
            <a:r>
              <a:rPr lang="en-US" sz="1750" dirty="0">
                <a:solidFill>
                  <a:srgbClr val="DAD1E6"/>
                </a:solidFill>
                <a:latin typeface="Fira Sans" pitchFamily="34" charset="0"/>
                <a:ea typeface="Fira Sans" pitchFamily="34" charset="-122"/>
                <a:cs typeface="Fira Sans" pitchFamily="34" charset="-120"/>
              </a:rPr>
              <a:t>Multimodal AI models for pantry item detection</a:t>
            </a:r>
            <a:endParaRPr lang="en-US" sz="1750" dirty="0"/>
          </a:p>
        </p:txBody>
      </p:sp>
      <p:sp>
        <p:nvSpPr>
          <p:cNvPr id="15" name="Shape 10"/>
          <p:cNvSpPr/>
          <p:nvPr/>
        </p:nvSpPr>
        <p:spPr>
          <a:xfrm>
            <a:off x="7428548" y="4012049"/>
            <a:ext cx="6408063" cy="1730812"/>
          </a:xfrm>
          <a:prstGeom prst="roundRect">
            <a:avLst>
              <a:gd name="adj" fmla="val 8453"/>
            </a:avLst>
          </a:prstGeom>
          <a:solidFill>
            <a:srgbClr val="241631"/>
          </a:solidFill>
          <a:ln w="30480">
            <a:solidFill>
              <a:srgbClr val="5C4E69"/>
            </a:solidFill>
            <a:prstDash val="solid"/>
          </a:ln>
        </p:spPr>
      </p:sp>
      <p:pic>
        <p:nvPicPr>
          <p:cNvPr id="16" name="Image 3" descr="preencoded.png">    </p:cNvPr>
          <p:cNvPicPr>
            <a:picLocks noChangeAspect="1"/>
          </p:cNvPicPr>
          <p:nvPr/>
        </p:nvPicPr>
        <p:blipFill>
          <a:blip r:embed="rId4"/>
          <a:stretch>
            <a:fillRect/>
          </a:stretch>
        </p:blipFill>
        <p:spPr>
          <a:xfrm>
            <a:off x="7398067" y="4012049"/>
            <a:ext cx="121920" cy="1730812"/>
          </a:xfrm>
          <a:prstGeom prst="rect">
            <a:avLst/>
          </a:prstGeom>
        </p:spPr>
      </p:pic>
      <p:sp>
        <p:nvSpPr>
          <p:cNvPr id="17" name="Text 11"/>
          <p:cNvSpPr/>
          <p:nvPr/>
        </p:nvSpPr>
        <p:spPr>
          <a:xfrm>
            <a:off x="7777282" y="4269343"/>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DAD1E6"/>
                </a:solidFill>
                <a:latin typeface="Inconsolata Bold" pitchFamily="34" charset="0"/>
                <a:ea typeface="Inconsolata Bold" pitchFamily="34" charset="-122"/>
                <a:cs typeface="Inconsolata Bold" pitchFamily="34" charset="-120"/>
              </a:rPr>
              <a:t>Heuristic AI Logic</a:t>
            </a:r>
            <a:endParaRPr lang="en-US" sz="2200" dirty="0"/>
          </a:p>
        </p:txBody>
      </p:sp>
      <p:sp>
        <p:nvSpPr>
          <p:cNvPr id="18" name="Text 12"/>
          <p:cNvSpPr/>
          <p:nvPr/>
        </p:nvSpPr>
        <p:spPr>
          <a:xfrm>
            <a:off x="7777282" y="4759762"/>
            <a:ext cx="5802035" cy="725805"/>
          </a:xfrm>
          <a:prstGeom prst="rect">
            <a:avLst/>
          </a:prstGeom>
          <a:noFill/>
          <a:ln/>
        </p:spPr>
        <p:txBody>
          <a:bodyPr wrap="square" lIns="0" tIns="0" rIns="0" bIns="0" rtlCol="0" anchor="t"/>
          <a:lstStyle/>
          <a:p>
            <a:pPr algn="l" indent="0" marL="0">
              <a:lnSpc>
                <a:spcPts val="2850"/>
              </a:lnSpc>
              <a:buNone/>
            </a:pPr>
            <a:r>
              <a:rPr lang="en-US" sz="1750" dirty="0">
                <a:solidFill>
                  <a:srgbClr val="DAD1E6"/>
                </a:solidFill>
                <a:latin typeface="Fira Sans" pitchFamily="34" charset="0"/>
                <a:ea typeface="Fira Sans" pitchFamily="34" charset="-122"/>
                <a:cs typeface="Fira Sans" pitchFamily="34" charset="-120"/>
              </a:rPr>
              <a:t>Recipe generation, substitution reasoning, and health scoring</a:t>
            </a:r>
            <a:endParaRPr lang="en-US" sz="1750" dirty="0"/>
          </a:p>
        </p:txBody>
      </p:sp>
      <p:sp>
        <p:nvSpPr>
          <p:cNvPr id="19" name="Shape 13"/>
          <p:cNvSpPr/>
          <p:nvPr/>
        </p:nvSpPr>
        <p:spPr>
          <a:xfrm>
            <a:off x="793790" y="5969675"/>
            <a:ext cx="6407944" cy="1367909"/>
          </a:xfrm>
          <a:prstGeom prst="roundRect">
            <a:avLst>
              <a:gd name="adj" fmla="val 10695"/>
            </a:avLst>
          </a:prstGeom>
          <a:solidFill>
            <a:srgbClr val="241631"/>
          </a:solidFill>
          <a:ln w="30480">
            <a:solidFill>
              <a:srgbClr val="5C4E69"/>
            </a:solidFill>
            <a:prstDash val="solid"/>
          </a:ln>
        </p:spPr>
      </p:sp>
      <p:pic>
        <p:nvPicPr>
          <p:cNvPr id="20" name="Image 4" descr="preencoded.png">    </p:cNvPr>
          <p:cNvPicPr>
            <a:picLocks noChangeAspect="1"/>
          </p:cNvPicPr>
          <p:nvPr/>
        </p:nvPicPr>
        <p:blipFill>
          <a:blip r:embed="rId5"/>
          <a:stretch>
            <a:fillRect/>
          </a:stretch>
        </p:blipFill>
        <p:spPr>
          <a:xfrm>
            <a:off x="763310" y="5969675"/>
            <a:ext cx="121920" cy="1367909"/>
          </a:xfrm>
          <a:prstGeom prst="rect">
            <a:avLst/>
          </a:prstGeom>
        </p:spPr>
      </p:pic>
      <p:sp>
        <p:nvSpPr>
          <p:cNvPr id="21" name="Text 14"/>
          <p:cNvSpPr/>
          <p:nvPr/>
        </p:nvSpPr>
        <p:spPr>
          <a:xfrm>
            <a:off x="1142524" y="6226969"/>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DAD1E6"/>
                </a:solidFill>
                <a:latin typeface="Inconsolata Bold" pitchFamily="34" charset="0"/>
                <a:ea typeface="Inconsolata Bold" pitchFamily="34" charset="-122"/>
                <a:cs typeface="Inconsolata Bold" pitchFamily="34" charset="-120"/>
              </a:rPr>
              <a:t>Python-dotenv</a:t>
            </a:r>
            <a:endParaRPr lang="en-US" sz="2200" dirty="0"/>
          </a:p>
        </p:txBody>
      </p:sp>
      <p:sp>
        <p:nvSpPr>
          <p:cNvPr id="22" name="Text 15"/>
          <p:cNvSpPr/>
          <p:nvPr/>
        </p:nvSpPr>
        <p:spPr>
          <a:xfrm>
            <a:off x="1142524" y="6717387"/>
            <a:ext cx="5801916" cy="362903"/>
          </a:xfrm>
          <a:prstGeom prst="rect">
            <a:avLst/>
          </a:prstGeom>
          <a:noFill/>
          <a:ln/>
        </p:spPr>
        <p:txBody>
          <a:bodyPr wrap="none" lIns="0" tIns="0" rIns="0" bIns="0" rtlCol="0" anchor="t"/>
          <a:lstStyle/>
          <a:p>
            <a:pPr algn="l" indent="0" marL="0">
              <a:lnSpc>
                <a:spcPts val="2850"/>
              </a:lnSpc>
              <a:buNone/>
            </a:pPr>
            <a:r>
              <a:rPr lang="en-US" sz="1750" dirty="0">
                <a:solidFill>
                  <a:srgbClr val="DAD1E6"/>
                </a:solidFill>
                <a:latin typeface="Fira Sans" pitchFamily="34" charset="0"/>
                <a:ea typeface="Fira Sans" pitchFamily="34" charset="-122"/>
                <a:cs typeface="Fira Sans" pitchFamily="34" charset="-120"/>
              </a:rPr>
              <a:t>Secure environment variable management</a:t>
            </a:r>
            <a:endParaRPr lang="en-US" sz="1750" dirty="0"/>
          </a:p>
        </p:txBody>
      </p:sp>
      <p:sp>
        <p:nvSpPr>
          <p:cNvPr id="23" name="Shape 16"/>
          <p:cNvSpPr/>
          <p:nvPr/>
        </p:nvSpPr>
        <p:spPr>
          <a:xfrm>
            <a:off x="7428548" y="5969675"/>
            <a:ext cx="6408063" cy="1367909"/>
          </a:xfrm>
          <a:prstGeom prst="roundRect">
            <a:avLst>
              <a:gd name="adj" fmla="val 10695"/>
            </a:avLst>
          </a:prstGeom>
          <a:solidFill>
            <a:srgbClr val="241631"/>
          </a:solidFill>
          <a:ln w="30480">
            <a:solidFill>
              <a:srgbClr val="5C4E69"/>
            </a:solidFill>
            <a:prstDash val="solid"/>
          </a:ln>
        </p:spPr>
      </p:sp>
      <p:pic>
        <p:nvPicPr>
          <p:cNvPr id="24" name="Image 5" descr="preencoded.png">    </p:cNvPr>
          <p:cNvPicPr>
            <a:picLocks noChangeAspect="1"/>
          </p:cNvPicPr>
          <p:nvPr/>
        </p:nvPicPr>
        <p:blipFill>
          <a:blip r:embed="rId6"/>
          <a:stretch>
            <a:fillRect/>
          </a:stretch>
        </p:blipFill>
        <p:spPr>
          <a:xfrm>
            <a:off x="7398067" y="5969675"/>
            <a:ext cx="121920" cy="1367909"/>
          </a:xfrm>
          <a:prstGeom prst="rect">
            <a:avLst/>
          </a:prstGeom>
        </p:spPr>
      </p:pic>
      <p:sp>
        <p:nvSpPr>
          <p:cNvPr id="25" name="Text 17"/>
          <p:cNvSpPr/>
          <p:nvPr/>
        </p:nvSpPr>
        <p:spPr>
          <a:xfrm>
            <a:off x="7777282" y="6226969"/>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DAD1E6"/>
                </a:solidFill>
                <a:latin typeface="Inconsolata Bold" pitchFamily="34" charset="0"/>
                <a:ea typeface="Inconsolata Bold" pitchFamily="34" charset="-122"/>
                <a:cs typeface="Inconsolata Bold" pitchFamily="34" charset="-120"/>
              </a:rPr>
              <a:t>Docker</a:t>
            </a:r>
            <a:endParaRPr lang="en-US" sz="2200" dirty="0"/>
          </a:p>
        </p:txBody>
      </p:sp>
      <p:sp>
        <p:nvSpPr>
          <p:cNvPr id="26" name="Text 18"/>
          <p:cNvSpPr/>
          <p:nvPr/>
        </p:nvSpPr>
        <p:spPr>
          <a:xfrm>
            <a:off x="7777282" y="6717387"/>
            <a:ext cx="5802035" cy="362903"/>
          </a:xfrm>
          <a:prstGeom prst="rect">
            <a:avLst/>
          </a:prstGeom>
          <a:noFill/>
          <a:ln/>
        </p:spPr>
        <p:txBody>
          <a:bodyPr wrap="none" lIns="0" tIns="0" rIns="0" bIns="0" rtlCol="0" anchor="t"/>
          <a:lstStyle/>
          <a:p>
            <a:pPr algn="l" indent="0" marL="0">
              <a:lnSpc>
                <a:spcPts val="2850"/>
              </a:lnSpc>
              <a:buNone/>
            </a:pPr>
            <a:r>
              <a:rPr lang="en-US" sz="1750" dirty="0">
                <a:solidFill>
                  <a:srgbClr val="DAD1E6"/>
                </a:solidFill>
                <a:latin typeface="Fira Sans" pitchFamily="34" charset="0"/>
                <a:ea typeface="Fira Sans" pitchFamily="34" charset="-122"/>
                <a:cs typeface="Fira Sans" pitchFamily="34" charset="-120"/>
              </a:rPr>
              <a:t>Containerized deployment for scalability</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1816418" y="605433"/>
            <a:ext cx="3984546" cy="498038"/>
          </a:xfrm>
          <a:prstGeom prst="rect">
            <a:avLst/>
          </a:prstGeom>
          <a:noFill/>
          <a:ln/>
        </p:spPr>
        <p:txBody>
          <a:bodyPr wrap="none" lIns="0" tIns="0" rIns="0" bIns="0" rtlCol="0" anchor="t"/>
          <a:lstStyle/>
          <a:p>
            <a:pPr algn="l" indent="0" marL="0">
              <a:lnSpc>
                <a:spcPts val="3900"/>
              </a:lnSpc>
              <a:buNone/>
            </a:pPr>
            <a:r>
              <a:rPr lang="en-US" sz="3100" b="1" dirty="0">
                <a:solidFill>
                  <a:srgbClr val="F94CAF"/>
                </a:solidFill>
                <a:latin typeface="Inconsolata Bold" pitchFamily="34" charset="0"/>
                <a:ea typeface="Inconsolata Bold" pitchFamily="34" charset="-122"/>
                <a:cs typeface="Inconsolata Bold" pitchFamily="34" charset="-120"/>
              </a:rPr>
              <a:t>Workflow Process</a:t>
            </a:r>
            <a:endParaRPr lang="en-US" sz="3100" dirty="0"/>
          </a:p>
        </p:txBody>
      </p:sp>
      <p:pic>
        <p:nvPicPr>
          <p:cNvPr id="3" name="Image 0" descr="preencoded.png">    </p:cNvPr>
          <p:cNvPicPr>
            <a:picLocks noChangeAspect="1"/>
          </p:cNvPicPr>
          <p:nvPr/>
        </p:nvPicPr>
        <p:blipFill>
          <a:blip r:embed="rId1"/>
          <a:stretch>
            <a:fillRect/>
          </a:stretch>
        </p:blipFill>
        <p:spPr>
          <a:xfrm>
            <a:off x="1816418" y="1327428"/>
            <a:ext cx="478036" cy="1143000"/>
          </a:xfrm>
          <a:prstGeom prst="rect">
            <a:avLst/>
          </a:prstGeom>
        </p:spPr>
      </p:pic>
      <p:sp>
        <p:nvSpPr>
          <p:cNvPr id="4" name="Text 1"/>
          <p:cNvSpPr/>
          <p:nvPr/>
        </p:nvSpPr>
        <p:spPr>
          <a:xfrm>
            <a:off x="2406372" y="1486733"/>
            <a:ext cx="1992273" cy="248960"/>
          </a:xfrm>
          <a:prstGeom prst="rect">
            <a:avLst/>
          </a:prstGeom>
          <a:noFill/>
          <a:ln/>
        </p:spPr>
        <p:txBody>
          <a:bodyPr wrap="none" lIns="0" tIns="0" rIns="0" bIns="0" rtlCol="0" anchor="t"/>
          <a:lstStyle/>
          <a:p>
            <a:pPr algn="l" indent="0" marL="0">
              <a:lnSpc>
                <a:spcPts val="1950"/>
              </a:lnSpc>
              <a:buNone/>
            </a:pPr>
            <a:r>
              <a:rPr lang="en-US" sz="1550" b="1" dirty="0">
                <a:solidFill>
                  <a:srgbClr val="DAD1E6"/>
                </a:solidFill>
                <a:latin typeface="Inconsolata Bold" pitchFamily="34" charset="0"/>
                <a:ea typeface="Inconsolata Bold" pitchFamily="34" charset="-122"/>
                <a:cs typeface="Inconsolata Bold" pitchFamily="34" charset="-120"/>
              </a:rPr>
              <a:t>Image Upload</a:t>
            </a:r>
            <a:endParaRPr lang="en-US" sz="1550" dirty="0"/>
          </a:p>
        </p:txBody>
      </p:sp>
      <p:sp>
        <p:nvSpPr>
          <p:cNvPr id="5" name="Text 2"/>
          <p:cNvSpPr/>
          <p:nvPr/>
        </p:nvSpPr>
        <p:spPr>
          <a:xfrm>
            <a:off x="2406372" y="1802844"/>
            <a:ext cx="10407491" cy="217051"/>
          </a:xfrm>
          <a:prstGeom prst="rect">
            <a:avLst/>
          </a:prstGeom>
          <a:noFill/>
          <a:ln/>
        </p:spPr>
        <p:txBody>
          <a:bodyPr wrap="none" lIns="0" tIns="0" rIns="0" bIns="0" rtlCol="0" anchor="t"/>
          <a:lstStyle/>
          <a:p>
            <a:pPr algn="l" indent="0" marL="0">
              <a:lnSpc>
                <a:spcPts val="1700"/>
              </a:lnSpc>
              <a:buNone/>
            </a:pPr>
            <a:r>
              <a:rPr lang="en-US" sz="1250" dirty="0">
                <a:solidFill>
                  <a:srgbClr val="DAD1E6"/>
                </a:solidFill>
                <a:latin typeface="Fira Sans" pitchFamily="34" charset="0"/>
                <a:ea typeface="Fira Sans" pitchFamily="34" charset="-122"/>
                <a:cs typeface="Fira Sans" pitchFamily="34" charset="-120"/>
              </a:rPr>
              <a:t>User uploads pantry photo through Streamlit interface</a:t>
            </a:r>
            <a:endParaRPr lang="en-US" sz="1250" dirty="0"/>
          </a:p>
        </p:txBody>
      </p:sp>
      <p:pic>
        <p:nvPicPr>
          <p:cNvPr id="6" name="Image 1" descr="preencoded.png">    </p:cNvPr>
          <p:cNvPicPr>
            <a:picLocks noChangeAspect="1"/>
          </p:cNvPicPr>
          <p:nvPr/>
        </p:nvPicPr>
        <p:blipFill>
          <a:blip r:embed="rId2"/>
          <a:stretch>
            <a:fillRect/>
          </a:stretch>
        </p:blipFill>
        <p:spPr>
          <a:xfrm>
            <a:off x="2055376" y="2395538"/>
            <a:ext cx="478036" cy="1143000"/>
          </a:xfrm>
          <a:prstGeom prst="rect">
            <a:avLst/>
          </a:prstGeom>
        </p:spPr>
      </p:pic>
      <p:sp>
        <p:nvSpPr>
          <p:cNvPr id="7" name="Text 3"/>
          <p:cNvSpPr/>
          <p:nvPr/>
        </p:nvSpPr>
        <p:spPr>
          <a:xfrm>
            <a:off x="2645331" y="2554843"/>
            <a:ext cx="1992273" cy="248960"/>
          </a:xfrm>
          <a:prstGeom prst="rect">
            <a:avLst/>
          </a:prstGeom>
          <a:noFill/>
          <a:ln/>
        </p:spPr>
        <p:txBody>
          <a:bodyPr wrap="none" lIns="0" tIns="0" rIns="0" bIns="0" rtlCol="0" anchor="t"/>
          <a:lstStyle/>
          <a:p>
            <a:pPr algn="l" indent="0" marL="0">
              <a:lnSpc>
                <a:spcPts val="1950"/>
              </a:lnSpc>
              <a:buNone/>
            </a:pPr>
            <a:r>
              <a:rPr lang="en-US" sz="1550" b="1" dirty="0">
                <a:solidFill>
                  <a:srgbClr val="DAD1E6"/>
                </a:solidFill>
                <a:latin typeface="Inconsolata Bold" pitchFamily="34" charset="0"/>
                <a:ea typeface="Inconsolata Bold" pitchFamily="34" charset="-122"/>
                <a:cs typeface="Inconsolata Bold" pitchFamily="34" charset="-120"/>
              </a:rPr>
              <a:t>Preprocessing</a:t>
            </a:r>
            <a:endParaRPr lang="en-US" sz="1550" dirty="0"/>
          </a:p>
        </p:txBody>
      </p:sp>
      <p:sp>
        <p:nvSpPr>
          <p:cNvPr id="8" name="Text 4"/>
          <p:cNvSpPr/>
          <p:nvPr/>
        </p:nvSpPr>
        <p:spPr>
          <a:xfrm>
            <a:off x="2645331" y="2870954"/>
            <a:ext cx="10168533" cy="217051"/>
          </a:xfrm>
          <a:prstGeom prst="rect">
            <a:avLst/>
          </a:prstGeom>
          <a:noFill/>
          <a:ln/>
        </p:spPr>
        <p:txBody>
          <a:bodyPr wrap="none" lIns="0" tIns="0" rIns="0" bIns="0" rtlCol="0" anchor="t"/>
          <a:lstStyle/>
          <a:p>
            <a:pPr algn="l" indent="0" marL="0">
              <a:lnSpc>
                <a:spcPts val="1700"/>
              </a:lnSpc>
              <a:buNone/>
            </a:pPr>
            <a:r>
              <a:rPr lang="en-US" sz="1250" dirty="0">
                <a:solidFill>
                  <a:srgbClr val="DAD1E6"/>
                </a:solidFill>
                <a:latin typeface="Fira Sans" pitchFamily="34" charset="0"/>
                <a:ea typeface="Fira Sans" pitchFamily="34" charset="-122"/>
                <a:cs typeface="Fira Sans" pitchFamily="34" charset="-120"/>
              </a:rPr>
              <a:t>Image enhancement, resizing, and optimization</a:t>
            </a:r>
            <a:endParaRPr lang="en-US" sz="1250" dirty="0"/>
          </a:p>
        </p:txBody>
      </p:sp>
      <p:pic>
        <p:nvPicPr>
          <p:cNvPr id="9" name="Image 2" descr="preencoded.png">    </p:cNvPr>
          <p:cNvPicPr>
            <a:picLocks noChangeAspect="1"/>
          </p:cNvPicPr>
          <p:nvPr/>
        </p:nvPicPr>
        <p:blipFill>
          <a:blip r:embed="rId3"/>
          <a:stretch>
            <a:fillRect/>
          </a:stretch>
        </p:blipFill>
        <p:spPr>
          <a:xfrm>
            <a:off x="2294453" y="3463647"/>
            <a:ext cx="478036" cy="1143000"/>
          </a:xfrm>
          <a:prstGeom prst="rect">
            <a:avLst/>
          </a:prstGeom>
        </p:spPr>
      </p:pic>
      <p:sp>
        <p:nvSpPr>
          <p:cNvPr id="10" name="Text 5"/>
          <p:cNvSpPr/>
          <p:nvPr/>
        </p:nvSpPr>
        <p:spPr>
          <a:xfrm>
            <a:off x="2884408" y="3622953"/>
            <a:ext cx="1992273" cy="248960"/>
          </a:xfrm>
          <a:prstGeom prst="rect">
            <a:avLst/>
          </a:prstGeom>
          <a:noFill/>
          <a:ln/>
        </p:spPr>
        <p:txBody>
          <a:bodyPr wrap="none" lIns="0" tIns="0" rIns="0" bIns="0" rtlCol="0" anchor="t"/>
          <a:lstStyle/>
          <a:p>
            <a:pPr algn="l" indent="0" marL="0">
              <a:lnSpc>
                <a:spcPts val="1950"/>
              </a:lnSpc>
              <a:buNone/>
            </a:pPr>
            <a:r>
              <a:rPr lang="en-US" sz="1550" b="1" dirty="0">
                <a:solidFill>
                  <a:srgbClr val="DAD1E6"/>
                </a:solidFill>
                <a:latin typeface="Inconsolata Bold" pitchFamily="34" charset="0"/>
                <a:ea typeface="Inconsolata Bold" pitchFamily="34" charset="-122"/>
                <a:cs typeface="Inconsolata Bold" pitchFamily="34" charset="-120"/>
              </a:rPr>
              <a:t>Detection</a:t>
            </a:r>
            <a:endParaRPr lang="en-US" sz="1550" dirty="0"/>
          </a:p>
        </p:txBody>
      </p:sp>
      <p:sp>
        <p:nvSpPr>
          <p:cNvPr id="11" name="Text 6"/>
          <p:cNvSpPr/>
          <p:nvPr/>
        </p:nvSpPr>
        <p:spPr>
          <a:xfrm>
            <a:off x="2884408" y="3939064"/>
            <a:ext cx="9929455" cy="217051"/>
          </a:xfrm>
          <a:prstGeom prst="rect">
            <a:avLst/>
          </a:prstGeom>
          <a:noFill/>
          <a:ln/>
        </p:spPr>
        <p:txBody>
          <a:bodyPr wrap="none" lIns="0" tIns="0" rIns="0" bIns="0" rtlCol="0" anchor="t"/>
          <a:lstStyle/>
          <a:p>
            <a:pPr algn="l" indent="0" marL="0">
              <a:lnSpc>
                <a:spcPts val="1700"/>
              </a:lnSpc>
              <a:buNone/>
            </a:pPr>
            <a:r>
              <a:rPr lang="en-US" sz="1250" dirty="0">
                <a:solidFill>
                  <a:srgbClr val="DAD1E6"/>
                </a:solidFill>
                <a:latin typeface="Fira Sans" pitchFamily="34" charset="0"/>
                <a:ea typeface="Fira Sans" pitchFamily="34" charset="-122"/>
                <a:cs typeface="Fira Sans" pitchFamily="34" charset="-120"/>
              </a:rPr>
              <a:t>AI identifies visible food items from image</a:t>
            </a:r>
            <a:endParaRPr lang="en-US" sz="1250" dirty="0"/>
          </a:p>
        </p:txBody>
      </p:sp>
      <p:pic>
        <p:nvPicPr>
          <p:cNvPr id="12" name="Image 3" descr="preencoded.png">    </p:cNvPr>
          <p:cNvPicPr>
            <a:picLocks noChangeAspect="1"/>
          </p:cNvPicPr>
          <p:nvPr/>
        </p:nvPicPr>
        <p:blipFill>
          <a:blip r:embed="rId4"/>
          <a:stretch>
            <a:fillRect/>
          </a:stretch>
        </p:blipFill>
        <p:spPr>
          <a:xfrm>
            <a:off x="2533531" y="4531757"/>
            <a:ext cx="478036" cy="1143000"/>
          </a:xfrm>
          <a:prstGeom prst="rect">
            <a:avLst/>
          </a:prstGeom>
        </p:spPr>
      </p:pic>
      <p:sp>
        <p:nvSpPr>
          <p:cNvPr id="13" name="Text 7"/>
          <p:cNvSpPr/>
          <p:nvPr/>
        </p:nvSpPr>
        <p:spPr>
          <a:xfrm>
            <a:off x="3123486" y="4691063"/>
            <a:ext cx="1992273" cy="248960"/>
          </a:xfrm>
          <a:prstGeom prst="rect">
            <a:avLst/>
          </a:prstGeom>
          <a:noFill/>
          <a:ln/>
        </p:spPr>
        <p:txBody>
          <a:bodyPr wrap="none" lIns="0" tIns="0" rIns="0" bIns="0" rtlCol="0" anchor="t"/>
          <a:lstStyle/>
          <a:p>
            <a:pPr algn="l" indent="0" marL="0">
              <a:lnSpc>
                <a:spcPts val="1950"/>
              </a:lnSpc>
              <a:buNone/>
            </a:pPr>
            <a:r>
              <a:rPr lang="en-US" sz="1550" b="1" dirty="0">
                <a:solidFill>
                  <a:srgbClr val="DAD1E6"/>
                </a:solidFill>
                <a:latin typeface="Inconsolata Bold" pitchFamily="34" charset="0"/>
                <a:ea typeface="Inconsolata Bold" pitchFamily="34" charset="-122"/>
                <a:cs typeface="Inconsolata Bold" pitchFamily="34" charset="-120"/>
              </a:rPr>
              <a:t>Categorization</a:t>
            </a:r>
            <a:endParaRPr lang="en-US" sz="1550" dirty="0"/>
          </a:p>
        </p:txBody>
      </p:sp>
      <p:sp>
        <p:nvSpPr>
          <p:cNvPr id="14" name="Text 8"/>
          <p:cNvSpPr/>
          <p:nvPr/>
        </p:nvSpPr>
        <p:spPr>
          <a:xfrm>
            <a:off x="3123486" y="5007173"/>
            <a:ext cx="9690378" cy="217051"/>
          </a:xfrm>
          <a:prstGeom prst="rect">
            <a:avLst/>
          </a:prstGeom>
          <a:noFill/>
          <a:ln/>
        </p:spPr>
        <p:txBody>
          <a:bodyPr wrap="none" lIns="0" tIns="0" rIns="0" bIns="0" rtlCol="0" anchor="t"/>
          <a:lstStyle/>
          <a:p>
            <a:pPr algn="l" indent="0" marL="0">
              <a:lnSpc>
                <a:spcPts val="1700"/>
              </a:lnSpc>
              <a:buNone/>
            </a:pPr>
            <a:r>
              <a:rPr lang="en-US" sz="1250" dirty="0">
                <a:solidFill>
                  <a:srgbClr val="DAD1E6"/>
                </a:solidFill>
                <a:latin typeface="Fira Sans" pitchFamily="34" charset="0"/>
                <a:ea typeface="Fira Sans" pitchFamily="34" charset="-122"/>
                <a:cs typeface="Fira Sans" pitchFamily="34" charset="-120"/>
              </a:rPr>
              <a:t>Items classified into storage types</a:t>
            </a:r>
            <a:endParaRPr lang="en-US" sz="1250" dirty="0"/>
          </a:p>
        </p:txBody>
      </p:sp>
      <p:pic>
        <p:nvPicPr>
          <p:cNvPr id="15" name="Image 4" descr="preencoded.png">    </p:cNvPr>
          <p:cNvPicPr>
            <a:picLocks noChangeAspect="1"/>
          </p:cNvPicPr>
          <p:nvPr/>
        </p:nvPicPr>
        <p:blipFill>
          <a:blip r:embed="rId5"/>
          <a:stretch>
            <a:fillRect/>
          </a:stretch>
        </p:blipFill>
        <p:spPr>
          <a:xfrm>
            <a:off x="2294453" y="5599867"/>
            <a:ext cx="478036" cy="1143000"/>
          </a:xfrm>
          <a:prstGeom prst="rect">
            <a:avLst/>
          </a:prstGeom>
        </p:spPr>
      </p:pic>
      <p:sp>
        <p:nvSpPr>
          <p:cNvPr id="16" name="Text 9"/>
          <p:cNvSpPr/>
          <p:nvPr/>
        </p:nvSpPr>
        <p:spPr>
          <a:xfrm>
            <a:off x="2884408" y="5759172"/>
            <a:ext cx="1992273" cy="248960"/>
          </a:xfrm>
          <a:prstGeom prst="rect">
            <a:avLst/>
          </a:prstGeom>
          <a:noFill/>
          <a:ln/>
        </p:spPr>
        <p:txBody>
          <a:bodyPr wrap="none" lIns="0" tIns="0" rIns="0" bIns="0" rtlCol="0" anchor="t"/>
          <a:lstStyle/>
          <a:p>
            <a:pPr algn="l" indent="0" marL="0">
              <a:lnSpc>
                <a:spcPts val="1950"/>
              </a:lnSpc>
              <a:buNone/>
            </a:pPr>
            <a:r>
              <a:rPr lang="en-US" sz="1550" b="1" dirty="0">
                <a:solidFill>
                  <a:srgbClr val="DAD1E6"/>
                </a:solidFill>
                <a:latin typeface="Inconsolata Bold" pitchFamily="34" charset="0"/>
                <a:ea typeface="Inconsolata Bold" pitchFamily="34" charset="-122"/>
                <a:cs typeface="Inconsolata Bold" pitchFamily="34" charset="-120"/>
              </a:rPr>
              <a:t>Recipe Generation</a:t>
            </a:r>
            <a:endParaRPr lang="en-US" sz="1550" dirty="0"/>
          </a:p>
        </p:txBody>
      </p:sp>
      <p:sp>
        <p:nvSpPr>
          <p:cNvPr id="17" name="Text 10"/>
          <p:cNvSpPr/>
          <p:nvPr/>
        </p:nvSpPr>
        <p:spPr>
          <a:xfrm>
            <a:off x="2884408" y="6075283"/>
            <a:ext cx="9929455" cy="217051"/>
          </a:xfrm>
          <a:prstGeom prst="rect">
            <a:avLst/>
          </a:prstGeom>
          <a:noFill/>
          <a:ln/>
        </p:spPr>
        <p:txBody>
          <a:bodyPr wrap="none" lIns="0" tIns="0" rIns="0" bIns="0" rtlCol="0" anchor="t"/>
          <a:lstStyle/>
          <a:p>
            <a:pPr algn="l" indent="0" marL="0">
              <a:lnSpc>
                <a:spcPts val="1700"/>
              </a:lnSpc>
              <a:buNone/>
            </a:pPr>
            <a:r>
              <a:rPr lang="en-US" sz="1250" dirty="0">
                <a:solidFill>
                  <a:srgbClr val="DAD1E6"/>
                </a:solidFill>
                <a:latin typeface="Fira Sans" pitchFamily="34" charset="0"/>
                <a:ea typeface="Fira Sans" pitchFamily="34" charset="-122"/>
                <a:cs typeface="Fira Sans" pitchFamily="34" charset="-120"/>
              </a:rPr>
              <a:t>Three simple recipes with instructions</a:t>
            </a:r>
            <a:endParaRPr lang="en-US" sz="1250" dirty="0"/>
          </a:p>
        </p:txBody>
      </p:sp>
      <p:pic>
        <p:nvPicPr>
          <p:cNvPr id="18" name="Image 5" descr="preencoded.png">    </p:cNvPr>
          <p:cNvPicPr>
            <a:picLocks noChangeAspect="1"/>
          </p:cNvPicPr>
          <p:nvPr/>
        </p:nvPicPr>
        <p:blipFill>
          <a:blip r:embed="rId6"/>
          <a:stretch>
            <a:fillRect/>
          </a:stretch>
        </p:blipFill>
        <p:spPr>
          <a:xfrm>
            <a:off x="2055376" y="6667976"/>
            <a:ext cx="478036" cy="1143000"/>
          </a:xfrm>
          <a:prstGeom prst="rect">
            <a:avLst/>
          </a:prstGeom>
        </p:spPr>
      </p:pic>
      <p:sp>
        <p:nvSpPr>
          <p:cNvPr id="19" name="Text 11"/>
          <p:cNvSpPr/>
          <p:nvPr/>
        </p:nvSpPr>
        <p:spPr>
          <a:xfrm>
            <a:off x="2645331" y="6827282"/>
            <a:ext cx="1992273" cy="248960"/>
          </a:xfrm>
          <a:prstGeom prst="rect">
            <a:avLst/>
          </a:prstGeom>
          <a:noFill/>
          <a:ln/>
        </p:spPr>
        <p:txBody>
          <a:bodyPr wrap="none" lIns="0" tIns="0" rIns="0" bIns="0" rtlCol="0" anchor="t"/>
          <a:lstStyle/>
          <a:p>
            <a:pPr algn="l" indent="0" marL="0">
              <a:lnSpc>
                <a:spcPts val="1950"/>
              </a:lnSpc>
              <a:buNone/>
            </a:pPr>
            <a:r>
              <a:rPr lang="en-US" sz="1550" b="1" dirty="0">
                <a:solidFill>
                  <a:srgbClr val="DAD1E6"/>
                </a:solidFill>
                <a:latin typeface="Inconsolata Bold" pitchFamily="34" charset="0"/>
                <a:ea typeface="Inconsolata Bold" pitchFamily="34" charset="-122"/>
                <a:cs typeface="Inconsolata Bold" pitchFamily="34" charset="-120"/>
              </a:rPr>
              <a:t>Health Scoring</a:t>
            </a:r>
            <a:endParaRPr lang="en-US" sz="1550" dirty="0"/>
          </a:p>
        </p:txBody>
      </p:sp>
      <p:sp>
        <p:nvSpPr>
          <p:cNvPr id="20" name="Text 12"/>
          <p:cNvSpPr/>
          <p:nvPr/>
        </p:nvSpPr>
        <p:spPr>
          <a:xfrm>
            <a:off x="2645331" y="7143393"/>
            <a:ext cx="10168533" cy="217051"/>
          </a:xfrm>
          <a:prstGeom prst="rect">
            <a:avLst/>
          </a:prstGeom>
          <a:noFill/>
          <a:ln/>
        </p:spPr>
        <p:txBody>
          <a:bodyPr wrap="none" lIns="0" tIns="0" rIns="0" bIns="0" rtlCol="0" anchor="t"/>
          <a:lstStyle/>
          <a:p>
            <a:pPr algn="l" indent="0" marL="0">
              <a:lnSpc>
                <a:spcPts val="1700"/>
              </a:lnSpc>
              <a:buNone/>
            </a:pPr>
            <a:r>
              <a:rPr lang="en-US" sz="1250" dirty="0">
                <a:solidFill>
                  <a:srgbClr val="DAD1E6"/>
                </a:solidFill>
                <a:latin typeface="Fira Sans" pitchFamily="34" charset="0"/>
                <a:ea typeface="Fira Sans" pitchFamily="34" charset="-122"/>
                <a:cs typeface="Fira Sans" pitchFamily="34" charset="-120"/>
              </a:rPr>
              <a:t>Nutritional evaluation with score 1-10</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1636990"/>
            <a:ext cx="5670590" cy="708779"/>
          </a:xfrm>
          <a:prstGeom prst="rect">
            <a:avLst/>
          </a:prstGeom>
          <a:noFill/>
          <a:ln/>
        </p:spPr>
        <p:txBody>
          <a:bodyPr wrap="none" lIns="0" tIns="0" rIns="0" bIns="0" rtlCol="0" anchor="t"/>
          <a:lstStyle/>
          <a:p>
            <a:pPr algn="l" indent="0" marL="0">
              <a:lnSpc>
                <a:spcPts val="5550"/>
              </a:lnSpc>
              <a:buNone/>
            </a:pPr>
            <a:r>
              <a:rPr lang="en-US" sz="4450" b="1" dirty="0">
                <a:solidFill>
                  <a:srgbClr val="F94CAF"/>
                </a:solidFill>
                <a:latin typeface="Inconsolata Bold" pitchFamily="34" charset="0"/>
                <a:ea typeface="Inconsolata Bold" pitchFamily="34" charset="-122"/>
                <a:cs typeface="Inconsolata Bold" pitchFamily="34" charset="-120"/>
              </a:rPr>
              <a:t>Key Features</a:t>
            </a:r>
            <a:endParaRPr lang="en-US" sz="4450" dirty="0"/>
          </a:p>
        </p:txBody>
      </p:sp>
      <p:sp>
        <p:nvSpPr>
          <p:cNvPr id="3" name="Text 1"/>
          <p:cNvSpPr/>
          <p:nvPr/>
        </p:nvSpPr>
        <p:spPr>
          <a:xfrm>
            <a:off x="793790" y="2912745"/>
            <a:ext cx="2845594" cy="708660"/>
          </a:xfrm>
          <a:prstGeom prst="rect">
            <a:avLst/>
          </a:prstGeom>
          <a:noFill/>
          <a:ln/>
        </p:spPr>
        <p:txBody>
          <a:bodyPr wrap="square" lIns="0" tIns="0" rIns="0" bIns="0" rtlCol="0" anchor="t"/>
          <a:lstStyle/>
          <a:p>
            <a:pPr algn="l" indent="0" marL="0">
              <a:lnSpc>
                <a:spcPts val="2750"/>
              </a:lnSpc>
              <a:buNone/>
            </a:pPr>
            <a:r>
              <a:rPr lang="en-US" sz="2200" b="1" dirty="0">
                <a:solidFill>
                  <a:srgbClr val="F94CAF"/>
                </a:solidFill>
                <a:latin typeface="Inconsolata Bold" pitchFamily="34" charset="0"/>
                <a:ea typeface="Inconsolata Bold" pitchFamily="34" charset="-122"/>
                <a:cs typeface="Inconsolata Bold" pitchFamily="34" charset="-120"/>
              </a:rPr>
              <a:t>Smart Recipe Generation</a:t>
            </a:r>
            <a:endParaRPr lang="en-US" sz="2200" dirty="0"/>
          </a:p>
        </p:txBody>
      </p:sp>
      <p:sp>
        <p:nvSpPr>
          <p:cNvPr id="4" name="Text 2"/>
          <p:cNvSpPr/>
          <p:nvPr/>
        </p:nvSpPr>
        <p:spPr>
          <a:xfrm>
            <a:off x="793790" y="3848219"/>
            <a:ext cx="2845594" cy="2540318"/>
          </a:xfrm>
          <a:prstGeom prst="rect">
            <a:avLst/>
          </a:prstGeom>
          <a:noFill/>
          <a:ln/>
        </p:spPr>
        <p:txBody>
          <a:bodyPr wrap="square" lIns="0" tIns="0" rIns="0" bIns="0" rtlCol="0" anchor="t"/>
          <a:lstStyle/>
          <a:p>
            <a:pPr algn="l" indent="0" marL="0">
              <a:lnSpc>
                <a:spcPts val="2850"/>
              </a:lnSpc>
              <a:buNone/>
            </a:pPr>
            <a:r>
              <a:rPr lang="en-US" sz="1750" dirty="0">
                <a:solidFill>
                  <a:srgbClr val="DAD1E6"/>
                </a:solidFill>
                <a:latin typeface="Fira Sans" pitchFamily="34" charset="0"/>
                <a:ea typeface="Fira Sans" pitchFamily="34" charset="-122"/>
                <a:cs typeface="Fira Sans" pitchFamily="34" charset="-120"/>
              </a:rPr>
              <a:t>Generates three beginner-friendly recipes with ingredients, three-step instructions, preparation time, and difficulty level based on available pantry items.</a:t>
            </a:r>
            <a:endParaRPr lang="en-US" sz="1750" dirty="0"/>
          </a:p>
        </p:txBody>
      </p:sp>
      <p:sp>
        <p:nvSpPr>
          <p:cNvPr id="5" name="Text 3"/>
          <p:cNvSpPr/>
          <p:nvPr/>
        </p:nvSpPr>
        <p:spPr>
          <a:xfrm>
            <a:off x="4200406" y="2912745"/>
            <a:ext cx="2845594" cy="708660"/>
          </a:xfrm>
          <a:prstGeom prst="rect">
            <a:avLst/>
          </a:prstGeom>
          <a:noFill/>
          <a:ln/>
        </p:spPr>
        <p:txBody>
          <a:bodyPr wrap="square" lIns="0" tIns="0" rIns="0" bIns="0" rtlCol="0" anchor="t"/>
          <a:lstStyle/>
          <a:p>
            <a:pPr algn="l" indent="0" marL="0">
              <a:lnSpc>
                <a:spcPts val="2750"/>
              </a:lnSpc>
              <a:buNone/>
            </a:pPr>
            <a:r>
              <a:rPr lang="en-US" sz="2200" b="1" dirty="0">
                <a:solidFill>
                  <a:srgbClr val="F94CAF"/>
                </a:solidFill>
                <a:latin typeface="Inconsolata Bold" pitchFamily="34" charset="0"/>
                <a:ea typeface="Inconsolata Bold" pitchFamily="34" charset="-122"/>
                <a:cs typeface="Inconsolata Bold" pitchFamily="34" charset="-120"/>
              </a:rPr>
              <a:t>Grocery List &amp; Substitutions</a:t>
            </a:r>
            <a:endParaRPr lang="en-US" sz="2200" dirty="0"/>
          </a:p>
        </p:txBody>
      </p:sp>
      <p:sp>
        <p:nvSpPr>
          <p:cNvPr id="6" name="Text 4"/>
          <p:cNvSpPr/>
          <p:nvPr/>
        </p:nvSpPr>
        <p:spPr>
          <a:xfrm>
            <a:off x="4200406" y="3848219"/>
            <a:ext cx="2845594" cy="1814513"/>
          </a:xfrm>
          <a:prstGeom prst="rect">
            <a:avLst/>
          </a:prstGeom>
          <a:noFill/>
          <a:ln/>
        </p:spPr>
        <p:txBody>
          <a:bodyPr wrap="square" lIns="0" tIns="0" rIns="0" bIns="0" rtlCol="0" anchor="t"/>
          <a:lstStyle/>
          <a:p>
            <a:pPr algn="l" indent="0" marL="0">
              <a:lnSpc>
                <a:spcPts val="2850"/>
              </a:lnSpc>
              <a:buNone/>
            </a:pPr>
            <a:r>
              <a:rPr lang="en-US" sz="1750" dirty="0">
                <a:solidFill>
                  <a:srgbClr val="DAD1E6"/>
                </a:solidFill>
                <a:latin typeface="Fira Sans" pitchFamily="34" charset="0"/>
                <a:ea typeface="Fira Sans" pitchFamily="34" charset="-122"/>
                <a:cs typeface="Fira Sans" pitchFamily="34" charset="-120"/>
              </a:rPr>
              <a:t>Identifies missing ingredients and creates shopping list. Suggests suitable substitutes using built-in knowledge base.</a:t>
            </a:r>
            <a:endParaRPr lang="en-US" sz="1750" dirty="0"/>
          </a:p>
        </p:txBody>
      </p:sp>
      <p:sp>
        <p:nvSpPr>
          <p:cNvPr id="7" name="Text 5"/>
          <p:cNvSpPr/>
          <p:nvPr/>
        </p:nvSpPr>
        <p:spPr>
          <a:xfrm>
            <a:off x="7607022" y="2912745"/>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F94CAF"/>
                </a:solidFill>
                <a:latin typeface="Inconsolata Bold" pitchFamily="34" charset="0"/>
                <a:ea typeface="Inconsolata Bold" pitchFamily="34" charset="-122"/>
                <a:cs typeface="Inconsolata Bold" pitchFamily="34" charset="-120"/>
              </a:rPr>
              <a:t>Health Evaluation</a:t>
            </a:r>
            <a:endParaRPr lang="en-US" sz="2200" dirty="0"/>
          </a:p>
        </p:txBody>
      </p:sp>
      <p:sp>
        <p:nvSpPr>
          <p:cNvPr id="8" name="Text 6"/>
          <p:cNvSpPr/>
          <p:nvPr/>
        </p:nvSpPr>
        <p:spPr>
          <a:xfrm>
            <a:off x="7607022" y="3493889"/>
            <a:ext cx="2845594" cy="1814513"/>
          </a:xfrm>
          <a:prstGeom prst="rect">
            <a:avLst/>
          </a:prstGeom>
          <a:noFill/>
          <a:ln/>
        </p:spPr>
        <p:txBody>
          <a:bodyPr wrap="square" lIns="0" tIns="0" rIns="0" bIns="0" rtlCol="0" anchor="t"/>
          <a:lstStyle/>
          <a:p>
            <a:pPr algn="l" indent="0" marL="0">
              <a:lnSpc>
                <a:spcPts val="2850"/>
              </a:lnSpc>
              <a:buNone/>
            </a:pPr>
            <a:r>
              <a:rPr lang="en-US" sz="1750" dirty="0">
                <a:solidFill>
                  <a:srgbClr val="DAD1E6"/>
                </a:solidFill>
                <a:latin typeface="Fira Sans" pitchFamily="34" charset="0"/>
                <a:ea typeface="Fira Sans" pitchFamily="34" charset="-122"/>
                <a:cs typeface="Fira Sans" pitchFamily="34" charset="-120"/>
              </a:rPr>
              <a:t>Assigns nutritional score (1-10) to each recipe based on ingredient composition, calories, protein, fiber, and fat content.</a:t>
            </a:r>
            <a:endParaRPr lang="en-US" sz="1750" dirty="0"/>
          </a:p>
        </p:txBody>
      </p:sp>
      <p:sp>
        <p:nvSpPr>
          <p:cNvPr id="9" name="Text 7"/>
          <p:cNvSpPr/>
          <p:nvPr/>
        </p:nvSpPr>
        <p:spPr>
          <a:xfrm>
            <a:off x="11013638" y="2912745"/>
            <a:ext cx="2845594" cy="708660"/>
          </a:xfrm>
          <a:prstGeom prst="rect">
            <a:avLst/>
          </a:prstGeom>
          <a:noFill/>
          <a:ln/>
        </p:spPr>
        <p:txBody>
          <a:bodyPr wrap="square" lIns="0" tIns="0" rIns="0" bIns="0" rtlCol="0" anchor="t"/>
          <a:lstStyle/>
          <a:p>
            <a:pPr algn="l" indent="0" marL="0">
              <a:lnSpc>
                <a:spcPts val="2750"/>
              </a:lnSpc>
              <a:buNone/>
            </a:pPr>
            <a:r>
              <a:rPr lang="en-US" sz="2200" b="1" dirty="0">
                <a:solidFill>
                  <a:srgbClr val="F94CAF"/>
                </a:solidFill>
                <a:latin typeface="Inconsolata Bold" pitchFamily="34" charset="0"/>
                <a:ea typeface="Inconsolata Bold" pitchFamily="34" charset="-122"/>
                <a:cs typeface="Inconsolata Bold" pitchFamily="34" charset="-120"/>
              </a:rPr>
              <a:t>Storage Categorization</a:t>
            </a:r>
            <a:endParaRPr lang="en-US" sz="2200" dirty="0"/>
          </a:p>
        </p:txBody>
      </p:sp>
      <p:sp>
        <p:nvSpPr>
          <p:cNvPr id="10" name="Text 8"/>
          <p:cNvSpPr/>
          <p:nvPr/>
        </p:nvSpPr>
        <p:spPr>
          <a:xfrm>
            <a:off x="11013638" y="3848219"/>
            <a:ext cx="2845594" cy="1814513"/>
          </a:xfrm>
          <a:prstGeom prst="rect">
            <a:avLst/>
          </a:prstGeom>
          <a:noFill/>
          <a:ln/>
        </p:spPr>
        <p:txBody>
          <a:bodyPr wrap="square" lIns="0" tIns="0" rIns="0" bIns="0" rtlCol="0" anchor="t"/>
          <a:lstStyle/>
          <a:p>
            <a:pPr algn="l" indent="0" marL="0">
              <a:lnSpc>
                <a:spcPts val="2850"/>
              </a:lnSpc>
              <a:buNone/>
            </a:pPr>
            <a:r>
              <a:rPr lang="en-US" sz="1750" dirty="0">
                <a:solidFill>
                  <a:srgbClr val="DAD1E6"/>
                </a:solidFill>
                <a:latin typeface="Fira Sans" pitchFamily="34" charset="0"/>
                <a:ea typeface="Fira Sans" pitchFamily="34" charset="-122"/>
                <a:cs typeface="Fira Sans" pitchFamily="34" charset="-120"/>
              </a:rPr>
              <a:t>Automatically classifies items into Dry Storage, Cold Storage, Frozen, and Fresh Produce for better organization.</a:t>
            </a: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11518" y="632817"/>
            <a:ext cx="5589865" cy="635318"/>
          </a:xfrm>
          <a:prstGeom prst="rect">
            <a:avLst/>
          </a:prstGeom>
          <a:noFill/>
          <a:ln/>
        </p:spPr>
        <p:txBody>
          <a:bodyPr wrap="none" lIns="0" tIns="0" rIns="0" bIns="0" rtlCol="0" anchor="t"/>
          <a:lstStyle/>
          <a:p>
            <a:pPr algn="l" indent="0" marL="0">
              <a:lnSpc>
                <a:spcPts val="5000"/>
              </a:lnSpc>
              <a:buNone/>
            </a:pPr>
            <a:r>
              <a:rPr lang="en-US" sz="4000" b="1" dirty="0">
                <a:solidFill>
                  <a:srgbClr val="F94CAF"/>
                </a:solidFill>
                <a:latin typeface="Inconsolata Bold" pitchFamily="34" charset="0"/>
                <a:ea typeface="Inconsolata Bold" pitchFamily="34" charset="-122"/>
                <a:cs typeface="Inconsolata Bold" pitchFamily="34" charset="-120"/>
              </a:rPr>
              <a:t>Development Milestones</a:t>
            </a:r>
            <a:endParaRPr lang="en-US" sz="4000" dirty="0"/>
          </a:p>
        </p:txBody>
      </p:sp>
      <p:sp>
        <p:nvSpPr>
          <p:cNvPr id="3" name="Shape 1"/>
          <p:cNvSpPr/>
          <p:nvPr/>
        </p:nvSpPr>
        <p:spPr>
          <a:xfrm>
            <a:off x="7303770" y="1632466"/>
            <a:ext cx="22860" cy="5964198"/>
          </a:xfrm>
          <a:prstGeom prst="roundRect">
            <a:avLst>
              <a:gd name="adj" fmla="val 133398"/>
            </a:avLst>
          </a:prstGeom>
          <a:solidFill>
            <a:srgbClr val="5C4E69"/>
          </a:solidFill>
          <a:ln/>
        </p:spPr>
      </p:sp>
      <p:sp>
        <p:nvSpPr>
          <p:cNvPr id="4" name="Shape 2"/>
          <p:cNvSpPr/>
          <p:nvPr/>
        </p:nvSpPr>
        <p:spPr>
          <a:xfrm>
            <a:off x="6499562" y="1849636"/>
            <a:ext cx="609838" cy="22860"/>
          </a:xfrm>
          <a:prstGeom prst="roundRect">
            <a:avLst>
              <a:gd name="adj" fmla="val 133398"/>
            </a:avLst>
          </a:prstGeom>
          <a:solidFill>
            <a:srgbClr val="5C4E69"/>
          </a:solidFill>
          <a:ln/>
        </p:spPr>
      </p:sp>
      <p:sp>
        <p:nvSpPr>
          <p:cNvPr id="5" name="Shape 3"/>
          <p:cNvSpPr/>
          <p:nvPr/>
        </p:nvSpPr>
        <p:spPr>
          <a:xfrm>
            <a:off x="7086540" y="1632466"/>
            <a:ext cx="457319" cy="457319"/>
          </a:xfrm>
          <a:prstGeom prst="roundRect">
            <a:avLst>
              <a:gd name="adj" fmla="val 6668"/>
            </a:avLst>
          </a:prstGeom>
          <a:solidFill>
            <a:srgbClr val="433550"/>
          </a:solidFill>
          <a:ln/>
        </p:spPr>
      </p:sp>
      <p:sp>
        <p:nvSpPr>
          <p:cNvPr id="6" name="Text 4"/>
          <p:cNvSpPr/>
          <p:nvPr/>
        </p:nvSpPr>
        <p:spPr>
          <a:xfrm>
            <a:off x="7162681" y="1670506"/>
            <a:ext cx="304919" cy="381119"/>
          </a:xfrm>
          <a:prstGeom prst="rect">
            <a:avLst/>
          </a:prstGeom>
          <a:noFill/>
          <a:ln/>
        </p:spPr>
        <p:txBody>
          <a:bodyPr wrap="none" lIns="0" tIns="0" rIns="0" bIns="0" rtlCol="0" anchor="t"/>
          <a:lstStyle/>
          <a:p>
            <a:pPr algn="ctr" indent="0" marL="0">
              <a:lnSpc>
                <a:spcPts val="2400"/>
              </a:lnSpc>
              <a:buNone/>
            </a:pPr>
            <a:r>
              <a:rPr lang="en-US" sz="2400" b="1" dirty="0">
                <a:solidFill>
                  <a:srgbClr val="DAD1E6"/>
                </a:solidFill>
                <a:latin typeface="Inconsolata Bold" pitchFamily="34" charset="0"/>
                <a:ea typeface="Inconsolata Bold" pitchFamily="34" charset="-122"/>
                <a:cs typeface="Inconsolata Bold" pitchFamily="34" charset="-120"/>
              </a:rPr>
              <a:t>1</a:t>
            </a:r>
            <a:endParaRPr lang="en-US" sz="2400" dirty="0"/>
          </a:p>
        </p:txBody>
      </p:sp>
      <p:sp>
        <p:nvSpPr>
          <p:cNvPr id="7" name="Text 5"/>
          <p:cNvSpPr/>
          <p:nvPr/>
        </p:nvSpPr>
        <p:spPr>
          <a:xfrm>
            <a:off x="3757613" y="1702237"/>
            <a:ext cx="2541151" cy="317540"/>
          </a:xfrm>
          <a:prstGeom prst="rect">
            <a:avLst/>
          </a:prstGeom>
          <a:noFill/>
          <a:ln/>
        </p:spPr>
        <p:txBody>
          <a:bodyPr wrap="none" lIns="0" tIns="0" rIns="0" bIns="0" rtlCol="0" anchor="t"/>
          <a:lstStyle/>
          <a:p>
            <a:pPr algn="r" indent="0" marL="0">
              <a:lnSpc>
                <a:spcPts val="2500"/>
              </a:lnSpc>
              <a:buNone/>
            </a:pPr>
            <a:r>
              <a:rPr lang="en-US" sz="2000" b="1" dirty="0">
                <a:solidFill>
                  <a:srgbClr val="DAD1E6"/>
                </a:solidFill>
                <a:latin typeface="Inconsolata Bold" pitchFamily="34" charset="0"/>
                <a:ea typeface="Inconsolata Bold" pitchFamily="34" charset="-122"/>
                <a:cs typeface="Inconsolata Bold" pitchFamily="34" charset="-120"/>
              </a:rPr>
              <a:t>Milestone 1</a:t>
            </a:r>
            <a:endParaRPr lang="en-US" sz="2000" dirty="0"/>
          </a:p>
        </p:txBody>
      </p:sp>
      <p:sp>
        <p:nvSpPr>
          <p:cNvPr id="8" name="Text 6"/>
          <p:cNvSpPr/>
          <p:nvPr/>
        </p:nvSpPr>
        <p:spPr>
          <a:xfrm>
            <a:off x="711518" y="2129076"/>
            <a:ext cx="5587246" cy="308253"/>
          </a:xfrm>
          <a:prstGeom prst="rect">
            <a:avLst/>
          </a:prstGeom>
          <a:noFill/>
          <a:ln/>
        </p:spPr>
        <p:txBody>
          <a:bodyPr wrap="none" lIns="0" tIns="0" rIns="0" bIns="0" rtlCol="0" anchor="t"/>
          <a:lstStyle/>
          <a:p>
            <a:pPr algn="r" indent="0" marL="0">
              <a:lnSpc>
                <a:spcPts val="2400"/>
              </a:lnSpc>
              <a:buNone/>
            </a:pPr>
            <a:r>
              <a:rPr lang="en-US" sz="1600" b="1" dirty="0">
                <a:solidFill>
                  <a:srgbClr val="DAD1E6"/>
                </a:solidFill>
                <a:latin typeface="Fira Sans" pitchFamily="34" charset="0"/>
                <a:ea typeface="Fira Sans" pitchFamily="34" charset="-122"/>
                <a:cs typeface="Fira Sans" pitchFamily="34" charset="-120"/>
              </a:rPr>
              <a:t>AI Vision Initialization</a:t>
            </a:r>
            <a:endParaRPr lang="en-US" sz="1600" dirty="0"/>
          </a:p>
        </p:txBody>
      </p:sp>
      <p:sp>
        <p:nvSpPr>
          <p:cNvPr id="9" name="Text 7"/>
          <p:cNvSpPr/>
          <p:nvPr/>
        </p:nvSpPr>
        <p:spPr>
          <a:xfrm>
            <a:off x="711518" y="2546628"/>
            <a:ext cx="5587246" cy="308253"/>
          </a:xfrm>
          <a:prstGeom prst="rect">
            <a:avLst/>
          </a:prstGeom>
          <a:noFill/>
          <a:ln/>
        </p:spPr>
        <p:txBody>
          <a:bodyPr wrap="none" lIns="0" tIns="0" rIns="0" bIns="0" rtlCol="0" anchor="t"/>
          <a:lstStyle/>
          <a:p>
            <a:pPr algn="r" indent="0" marL="0">
              <a:lnSpc>
                <a:spcPts val="2400"/>
              </a:lnSpc>
              <a:buNone/>
            </a:pPr>
            <a:r>
              <a:rPr lang="en-US" sz="1600" dirty="0">
                <a:solidFill>
                  <a:srgbClr val="DAD1E6"/>
                </a:solidFill>
                <a:latin typeface="Fira Sans" pitchFamily="34" charset="0"/>
                <a:ea typeface="Fira Sans" pitchFamily="34" charset="-122"/>
                <a:cs typeface="Fira Sans" pitchFamily="34" charset="-120"/>
              </a:rPr>
              <a:t>API setup, key configuration, prompt design</a:t>
            </a:r>
            <a:endParaRPr lang="en-US" sz="1600" dirty="0"/>
          </a:p>
        </p:txBody>
      </p:sp>
      <p:sp>
        <p:nvSpPr>
          <p:cNvPr id="10" name="Shape 8"/>
          <p:cNvSpPr/>
          <p:nvPr/>
        </p:nvSpPr>
        <p:spPr>
          <a:xfrm>
            <a:off x="7521000" y="3027045"/>
            <a:ext cx="609838" cy="22860"/>
          </a:xfrm>
          <a:prstGeom prst="roundRect">
            <a:avLst>
              <a:gd name="adj" fmla="val 133398"/>
            </a:avLst>
          </a:prstGeom>
          <a:solidFill>
            <a:srgbClr val="5C4E69"/>
          </a:solidFill>
          <a:ln/>
        </p:spPr>
      </p:sp>
      <p:sp>
        <p:nvSpPr>
          <p:cNvPr id="11" name="Shape 9"/>
          <p:cNvSpPr/>
          <p:nvPr/>
        </p:nvSpPr>
        <p:spPr>
          <a:xfrm>
            <a:off x="7086540" y="2809875"/>
            <a:ext cx="457319" cy="457319"/>
          </a:xfrm>
          <a:prstGeom prst="roundRect">
            <a:avLst>
              <a:gd name="adj" fmla="val 6668"/>
            </a:avLst>
          </a:prstGeom>
          <a:solidFill>
            <a:srgbClr val="433550"/>
          </a:solidFill>
          <a:ln/>
        </p:spPr>
      </p:sp>
      <p:sp>
        <p:nvSpPr>
          <p:cNvPr id="12" name="Text 10"/>
          <p:cNvSpPr/>
          <p:nvPr/>
        </p:nvSpPr>
        <p:spPr>
          <a:xfrm>
            <a:off x="7162681" y="2847915"/>
            <a:ext cx="304919" cy="381119"/>
          </a:xfrm>
          <a:prstGeom prst="rect">
            <a:avLst/>
          </a:prstGeom>
          <a:noFill/>
          <a:ln/>
        </p:spPr>
        <p:txBody>
          <a:bodyPr wrap="none" lIns="0" tIns="0" rIns="0" bIns="0" rtlCol="0" anchor="t"/>
          <a:lstStyle/>
          <a:p>
            <a:pPr algn="ctr" indent="0" marL="0">
              <a:lnSpc>
                <a:spcPts val="2400"/>
              </a:lnSpc>
              <a:buNone/>
            </a:pPr>
            <a:r>
              <a:rPr lang="en-US" sz="2400" b="1" dirty="0">
                <a:solidFill>
                  <a:srgbClr val="DAD1E6"/>
                </a:solidFill>
                <a:latin typeface="Inconsolata Bold" pitchFamily="34" charset="0"/>
                <a:ea typeface="Inconsolata Bold" pitchFamily="34" charset="-122"/>
                <a:cs typeface="Inconsolata Bold" pitchFamily="34" charset="-120"/>
              </a:rPr>
              <a:t>2</a:t>
            </a:r>
            <a:endParaRPr lang="en-US" sz="2400" dirty="0"/>
          </a:p>
        </p:txBody>
      </p:sp>
      <p:sp>
        <p:nvSpPr>
          <p:cNvPr id="13" name="Text 11"/>
          <p:cNvSpPr/>
          <p:nvPr/>
        </p:nvSpPr>
        <p:spPr>
          <a:xfrm>
            <a:off x="8331637" y="2879646"/>
            <a:ext cx="2541151" cy="317540"/>
          </a:xfrm>
          <a:prstGeom prst="rect">
            <a:avLst/>
          </a:prstGeom>
          <a:noFill/>
          <a:ln/>
        </p:spPr>
        <p:txBody>
          <a:bodyPr wrap="none" lIns="0" tIns="0" rIns="0" bIns="0" rtlCol="0" anchor="t"/>
          <a:lstStyle/>
          <a:p>
            <a:pPr algn="l" indent="0" marL="0">
              <a:lnSpc>
                <a:spcPts val="2500"/>
              </a:lnSpc>
              <a:buNone/>
            </a:pPr>
            <a:r>
              <a:rPr lang="en-US" sz="2000" b="1" dirty="0">
                <a:solidFill>
                  <a:srgbClr val="DAD1E6"/>
                </a:solidFill>
                <a:latin typeface="Inconsolata Bold" pitchFamily="34" charset="0"/>
                <a:ea typeface="Inconsolata Bold" pitchFamily="34" charset="-122"/>
                <a:cs typeface="Inconsolata Bold" pitchFamily="34" charset="-120"/>
              </a:rPr>
              <a:t>Milestone 2</a:t>
            </a:r>
            <a:endParaRPr lang="en-US" sz="2000" dirty="0"/>
          </a:p>
        </p:txBody>
      </p:sp>
      <p:sp>
        <p:nvSpPr>
          <p:cNvPr id="14" name="Text 12"/>
          <p:cNvSpPr/>
          <p:nvPr/>
        </p:nvSpPr>
        <p:spPr>
          <a:xfrm>
            <a:off x="8331637" y="3306485"/>
            <a:ext cx="5587246" cy="308253"/>
          </a:xfrm>
          <a:prstGeom prst="rect">
            <a:avLst/>
          </a:prstGeom>
          <a:noFill/>
          <a:ln/>
        </p:spPr>
        <p:txBody>
          <a:bodyPr wrap="none" lIns="0" tIns="0" rIns="0" bIns="0" rtlCol="0" anchor="t"/>
          <a:lstStyle/>
          <a:p>
            <a:pPr algn="l" indent="0" marL="0">
              <a:lnSpc>
                <a:spcPts val="2400"/>
              </a:lnSpc>
              <a:buNone/>
            </a:pPr>
            <a:r>
              <a:rPr lang="en-US" sz="1600" b="1" dirty="0">
                <a:solidFill>
                  <a:srgbClr val="DAD1E6"/>
                </a:solidFill>
                <a:latin typeface="Fira Sans" pitchFamily="34" charset="0"/>
                <a:ea typeface="Fira Sans" pitchFamily="34" charset="-122"/>
                <a:cs typeface="Fira Sans" pitchFamily="34" charset="-120"/>
              </a:rPr>
              <a:t>Core Functionality</a:t>
            </a:r>
            <a:endParaRPr lang="en-US" sz="1600" dirty="0"/>
          </a:p>
        </p:txBody>
      </p:sp>
      <p:sp>
        <p:nvSpPr>
          <p:cNvPr id="15" name="Text 13"/>
          <p:cNvSpPr/>
          <p:nvPr/>
        </p:nvSpPr>
        <p:spPr>
          <a:xfrm>
            <a:off x="8331637" y="3724037"/>
            <a:ext cx="5587246" cy="616506"/>
          </a:xfrm>
          <a:prstGeom prst="rect">
            <a:avLst/>
          </a:prstGeom>
          <a:noFill/>
          <a:ln/>
        </p:spPr>
        <p:txBody>
          <a:bodyPr wrap="square" lIns="0" tIns="0" rIns="0" bIns="0" rtlCol="0" anchor="t"/>
          <a:lstStyle/>
          <a:p>
            <a:pPr algn="l" indent="0" marL="0">
              <a:lnSpc>
                <a:spcPts val="2400"/>
              </a:lnSpc>
              <a:buNone/>
            </a:pPr>
            <a:r>
              <a:rPr lang="en-US" sz="1600" dirty="0">
                <a:solidFill>
                  <a:srgbClr val="DAD1E6"/>
                </a:solidFill>
                <a:latin typeface="Fira Sans" pitchFamily="34" charset="0"/>
                <a:ea typeface="Fira Sans" pitchFamily="34" charset="-122"/>
                <a:cs typeface="Fira Sans" pitchFamily="34" charset="-120"/>
              </a:rPr>
              <a:t>Image processing, detection, categorization, recipe generation</a:t>
            </a:r>
            <a:endParaRPr lang="en-US" sz="1600" dirty="0"/>
          </a:p>
        </p:txBody>
      </p:sp>
      <p:sp>
        <p:nvSpPr>
          <p:cNvPr id="16" name="Shape 14"/>
          <p:cNvSpPr/>
          <p:nvPr/>
        </p:nvSpPr>
        <p:spPr>
          <a:xfrm>
            <a:off x="6499562" y="4057174"/>
            <a:ext cx="609838" cy="22860"/>
          </a:xfrm>
          <a:prstGeom prst="roundRect">
            <a:avLst>
              <a:gd name="adj" fmla="val 133398"/>
            </a:avLst>
          </a:prstGeom>
          <a:solidFill>
            <a:srgbClr val="5C4E69"/>
          </a:solidFill>
          <a:ln/>
        </p:spPr>
      </p:sp>
      <p:sp>
        <p:nvSpPr>
          <p:cNvPr id="17" name="Shape 15"/>
          <p:cNvSpPr/>
          <p:nvPr/>
        </p:nvSpPr>
        <p:spPr>
          <a:xfrm>
            <a:off x="7086540" y="3840004"/>
            <a:ext cx="457319" cy="457319"/>
          </a:xfrm>
          <a:prstGeom prst="roundRect">
            <a:avLst>
              <a:gd name="adj" fmla="val 6668"/>
            </a:avLst>
          </a:prstGeom>
          <a:solidFill>
            <a:srgbClr val="433550"/>
          </a:solidFill>
          <a:ln/>
        </p:spPr>
      </p:sp>
      <p:sp>
        <p:nvSpPr>
          <p:cNvPr id="18" name="Text 16"/>
          <p:cNvSpPr/>
          <p:nvPr/>
        </p:nvSpPr>
        <p:spPr>
          <a:xfrm>
            <a:off x="7162681" y="3878044"/>
            <a:ext cx="304919" cy="381119"/>
          </a:xfrm>
          <a:prstGeom prst="rect">
            <a:avLst/>
          </a:prstGeom>
          <a:noFill/>
          <a:ln/>
        </p:spPr>
        <p:txBody>
          <a:bodyPr wrap="none" lIns="0" tIns="0" rIns="0" bIns="0" rtlCol="0" anchor="t"/>
          <a:lstStyle/>
          <a:p>
            <a:pPr algn="ctr" indent="0" marL="0">
              <a:lnSpc>
                <a:spcPts val="2400"/>
              </a:lnSpc>
              <a:buNone/>
            </a:pPr>
            <a:r>
              <a:rPr lang="en-US" sz="2400" b="1" dirty="0">
                <a:solidFill>
                  <a:srgbClr val="DAD1E6"/>
                </a:solidFill>
                <a:latin typeface="Inconsolata Bold" pitchFamily="34" charset="0"/>
                <a:ea typeface="Inconsolata Bold" pitchFamily="34" charset="-122"/>
                <a:cs typeface="Inconsolata Bold" pitchFamily="34" charset="-120"/>
              </a:rPr>
              <a:t>3</a:t>
            </a:r>
            <a:endParaRPr lang="en-US" sz="2400" dirty="0"/>
          </a:p>
        </p:txBody>
      </p:sp>
      <p:sp>
        <p:nvSpPr>
          <p:cNvPr id="19" name="Text 17"/>
          <p:cNvSpPr/>
          <p:nvPr/>
        </p:nvSpPr>
        <p:spPr>
          <a:xfrm>
            <a:off x="3757613" y="3909774"/>
            <a:ext cx="2541151" cy="317540"/>
          </a:xfrm>
          <a:prstGeom prst="rect">
            <a:avLst/>
          </a:prstGeom>
          <a:noFill/>
          <a:ln/>
        </p:spPr>
        <p:txBody>
          <a:bodyPr wrap="none" lIns="0" tIns="0" rIns="0" bIns="0" rtlCol="0" anchor="t"/>
          <a:lstStyle/>
          <a:p>
            <a:pPr algn="r" indent="0" marL="0">
              <a:lnSpc>
                <a:spcPts val="2500"/>
              </a:lnSpc>
              <a:buNone/>
            </a:pPr>
            <a:r>
              <a:rPr lang="en-US" sz="2000" b="1" dirty="0">
                <a:solidFill>
                  <a:srgbClr val="DAD1E6"/>
                </a:solidFill>
                <a:latin typeface="Inconsolata Bold" pitchFamily="34" charset="0"/>
                <a:ea typeface="Inconsolata Bold" pitchFamily="34" charset="-122"/>
                <a:cs typeface="Inconsolata Bold" pitchFamily="34" charset="-120"/>
              </a:rPr>
              <a:t>Milestone 3</a:t>
            </a:r>
            <a:endParaRPr lang="en-US" sz="2000" dirty="0"/>
          </a:p>
        </p:txBody>
      </p:sp>
      <p:sp>
        <p:nvSpPr>
          <p:cNvPr id="20" name="Text 18"/>
          <p:cNvSpPr/>
          <p:nvPr/>
        </p:nvSpPr>
        <p:spPr>
          <a:xfrm>
            <a:off x="711518" y="4336613"/>
            <a:ext cx="5587246" cy="308253"/>
          </a:xfrm>
          <a:prstGeom prst="rect">
            <a:avLst/>
          </a:prstGeom>
          <a:noFill/>
          <a:ln/>
        </p:spPr>
        <p:txBody>
          <a:bodyPr wrap="none" lIns="0" tIns="0" rIns="0" bIns="0" rtlCol="0" anchor="t"/>
          <a:lstStyle/>
          <a:p>
            <a:pPr algn="r" indent="0" marL="0">
              <a:lnSpc>
                <a:spcPts val="2400"/>
              </a:lnSpc>
              <a:buNone/>
            </a:pPr>
            <a:r>
              <a:rPr lang="en-US" sz="1600" b="1" dirty="0">
                <a:solidFill>
                  <a:srgbClr val="DAD1E6"/>
                </a:solidFill>
                <a:latin typeface="Fira Sans" pitchFamily="34" charset="0"/>
                <a:ea typeface="Fira Sans" pitchFamily="34" charset="-122"/>
                <a:cs typeface="Fira Sans" pitchFamily="34" charset="-120"/>
              </a:rPr>
              <a:t>Modular Architecture</a:t>
            </a:r>
            <a:endParaRPr lang="en-US" sz="1600" dirty="0"/>
          </a:p>
        </p:txBody>
      </p:sp>
      <p:sp>
        <p:nvSpPr>
          <p:cNvPr id="21" name="Text 19"/>
          <p:cNvSpPr/>
          <p:nvPr/>
        </p:nvSpPr>
        <p:spPr>
          <a:xfrm>
            <a:off x="711518" y="4754166"/>
            <a:ext cx="5587246" cy="308253"/>
          </a:xfrm>
          <a:prstGeom prst="rect">
            <a:avLst/>
          </a:prstGeom>
          <a:noFill/>
          <a:ln/>
        </p:spPr>
        <p:txBody>
          <a:bodyPr wrap="none" lIns="0" tIns="0" rIns="0" bIns="0" rtlCol="0" anchor="t"/>
          <a:lstStyle/>
          <a:p>
            <a:pPr algn="r" indent="0" marL="0">
              <a:lnSpc>
                <a:spcPts val="2400"/>
              </a:lnSpc>
              <a:buNone/>
            </a:pPr>
            <a:r>
              <a:rPr lang="en-US" sz="1600" dirty="0">
                <a:solidFill>
                  <a:srgbClr val="DAD1E6"/>
                </a:solidFill>
                <a:latin typeface="Fira Sans" pitchFamily="34" charset="0"/>
                <a:ea typeface="Fira Sans" pitchFamily="34" charset="-122"/>
                <a:cs typeface="Fira Sans" pitchFamily="34" charset="-120"/>
              </a:rPr>
              <a:t>Service layers, API integration, app entry point</a:t>
            </a:r>
            <a:endParaRPr lang="en-US" sz="1600" dirty="0"/>
          </a:p>
        </p:txBody>
      </p:sp>
      <p:sp>
        <p:nvSpPr>
          <p:cNvPr id="22" name="Shape 20"/>
          <p:cNvSpPr/>
          <p:nvPr/>
        </p:nvSpPr>
        <p:spPr>
          <a:xfrm>
            <a:off x="7521000" y="5087422"/>
            <a:ext cx="609838" cy="22860"/>
          </a:xfrm>
          <a:prstGeom prst="roundRect">
            <a:avLst>
              <a:gd name="adj" fmla="val 133398"/>
            </a:avLst>
          </a:prstGeom>
          <a:solidFill>
            <a:srgbClr val="5C4E69"/>
          </a:solidFill>
          <a:ln/>
        </p:spPr>
      </p:sp>
      <p:sp>
        <p:nvSpPr>
          <p:cNvPr id="23" name="Shape 21"/>
          <p:cNvSpPr/>
          <p:nvPr/>
        </p:nvSpPr>
        <p:spPr>
          <a:xfrm>
            <a:off x="7086540" y="4870252"/>
            <a:ext cx="457319" cy="457319"/>
          </a:xfrm>
          <a:prstGeom prst="roundRect">
            <a:avLst>
              <a:gd name="adj" fmla="val 6668"/>
            </a:avLst>
          </a:prstGeom>
          <a:solidFill>
            <a:srgbClr val="433550"/>
          </a:solidFill>
          <a:ln/>
        </p:spPr>
      </p:sp>
      <p:sp>
        <p:nvSpPr>
          <p:cNvPr id="24" name="Text 22"/>
          <p:cNvSpPr/>
          <p:nvPr/>
        </p:nvSpPr>
        <p:spPr>
          <a:xfrm>
            <a:off x="7162681" y="4908292"/>
            <a:ext cx="304919" cy="381119"/>
          </a:xfrm>
          <a:prstGeom prst="rect">
            <a:avLst/>
          </a:prstGeom>
          <a:noFill/>
          <a:ln/>
        </p:spPr>
        <p:txBody>
          <a:bodyPr wrap="none" lIns="0" tIns="0" rIns="0" bIns="0" rtlCol="0" anchor="t"/>
          <a:lstStyle/>
          <a:p>
            <a:pPr algn="ctr" indent="0" marL="0">
              <a:lnSpc>
                <a:spcPts val="2400"/>
              </a:lnSpc>
              <a:buNone/>
            </a:pPr>
            <a:r>
              <a:rPr lang="en-US" sz="2400" b="1" dirty="0">
                <a:solidFill>
                  <a:srgbClr val="DAD1E6"/>
                </a:solidFill>
                <a:latin typeface="Inconsolata Bold" pitchFamily="34" charset="0"/>
                <a:ea typeface="Inconsolata Bold" pitchFamily="34" charset="-122"/>
                <a:cs typeface="Inconsolata Bold" pitchFamily="34" charset="-120"/>
              </a:rPr>
              <a:t>4</a:t>
            </a:r>
            <a:endParaRPr lang="en-US" sz="2400" dirty="0"/>
          </a:p>
        </p:txBody>
      </p:sp>
      <p:sp>
        <p:nvSpPr>
          <p:cNvPr id="25" name="Text 23"/>
          <p:cNvSpPr/>
          <p:nvPr/>
        </p:nvSpPr>
        <p:spPr>
          <a:xfrm>
            <a:off x="8331637" y="4940022"/>
            <a:ext cx="2541151" cy="317540"/>
          </a:xfrm>
          <a:prstGeom prst="rect">
            <a:avLst/>
          </a:prstGeom>
          <a:noFill/>
          <a:ln/>
        </p:spPr>
        <p:txBody>
          <a:bodyPr wrap="none" lIns="0" tIns="0" rIns="0" bIns="0" rtlCol="0" anchor="t"/>
          <a:lstStyle/>
          <a:p>
            <a:pPr algn="l" indent="0" marL="0">
              <a:lnSpc>
                <a:spcPts val="2500"/>
              </a:lnSpc>
              <a:buNone/>
            </a:pPr>
            <a:r>
              <a:rPr lang="en-US" sz="2000" b="1" dirty="0">
                <a:solidFill>
                  <a:srgbClr val="DAD1E6"/>
                </a:solidFill>
                <a:latin typeface="Inconsolata Bold" pitchFamily="34" charset="0"/>
                <a:ea typeface="Inconsolata Bold" pitchFamily="34" charset="-122"/>
                <a:cs typeface="Inconsolata Bold" pitchFamily="34" charset="-120"/>
              </a:rPr>
              <a:t>Milestone 4</a:t>
            </a:r>
            <a:endParaRPr lang="en-US" sz="2000" dirty="0"/>
          </a:p>
        </p:txBody>
      </p:sp>
      <p:sp>
        <p:nvSpPr>
          <p:cNvPr id="26" name="Text 24"/>
          <p:cNvSpPr/>
          <p:nvPr/>
        </p:nvSpPr>
        <p:spPr>
          <a:xfrm>
            <a:off x="8331637" y="5366861"/>
            <a:ext cx="5587246" cy="308253"/>
          </a:xfrm>
          <a:prstGeom prst="rect">
            <a:avLst/>
          </a:prstGeom>
          <a:noFill/>
          <a:ln/>
        </p:spPr>
        <p:txBody>
          <a:bodyPr wrap="none" lIns="0" tIns="0" rIns="0" bIns="0" rtlCol="0" anchor="t"/>
          <a:lstStyle/>
          <a:p>
            <a:pPr algn="l" indent="0" marL="0">
              <a:lnSpc>
                <a:spcPts val="2400"/>
              </a:lnSpc>
              <a:buNone/>
            </a:pPr>
            <a:r>
              <a:rPr lang="en-US" sz="1600" b="1" dirty="0">
                <a:solidFill>
                  <a:srgbClr val="DAD1E6"/>
                </a:solidFill>
                <a:latin typeface="Fira Sans" pitchFamily="34" charset="0"/>
                <a:ea typeface="Fira Sans" pitchFamily="34" charset="-122"/>
                <a:cs typeface="Fira Sans" pitchFamily="34" charset="-120"/>
              </a:rPr>
              <a:t>UI Development</a:t>
            </a:r>
            <a:endParaRPr lang="en-US" sz="1600" dirty="0"/>
          </a:p>
        </p:txBody>
      </p:sp>
      <p:sp>
        <p:nvSpPr>
          <p:cNvPr id="27" name="Text 25"/>
          <p:cNvSpPr/>
          <p:nvPr/>
        </p:nvSpPr>
        <p:spPr>
          <a:xfrm>
            <a:off x="8331637" y="5784413"/>
            <a:ext cx="5587246" cy="308253"/>
          </a:xfrm>
          <a:prstGeom prst="rect">
            <a:avLst/>
          </a:prstGeom>
          <a:noFill/>
          <a:ln/>
        </p:spPr>
        <p:txBody>
          <a:bodyPr wrap="none" lIns="0" tIns="0" rIns="0" bIns="0" rtlCol="0" anchor="t"/>
          <a:lstStyle/>
          <a:p>
            <a:pPr algn="l" indent="0" marL="0">
              <a:lnSpc>
                <a:spcPts val="2400"/>
              </a:lnSpc>
              <a:buNone/>
            </a:pPr>
            <a:r>
              <a:rPr lang="en-US" sz="1600" dirty="0">
                <a:solidFill>
                  <a:srgbClr val="DAD1E6"/>
                </a:solidFill>
                <a:latin typeface="Fira Sans" pitchFamily="34" charset="0"/>
                <a:ea typeface="Fira Sans" pitchFamily="34" charset="-122"/>
                <a:cs typeface="Fira Sans" pitchFamily="34" charset="-120"/>
              </a:rPr>
              <a:t>Streamlit interface, navigation, responsive design</a:t>
            </a:r>
            <a:endParaRPr lang="en-US" sz="1600" dirty="0"/>
          </a:p>
        </p:txBody>
      </p:sp>
      <p:sp>
        <p:nvSpPr>
          <p:cNvPr id="28" name="Shape 26"/>
          <p:cNvSpPr/>
          <p:nvPr/>
        </p:nvSpPr>
        <p:spPr>
          <a:xfrm>
            <a:off x="6499562" y="6117669"/>
            <a:ext cx="609838" cy="22860"/>
          </a:xfrm>
          <a:prstGeom prst="roundRect">
            <a:avLst>
              <a:gd name="adj" fmla="val 133398"/>
            </a:avLst>
          </a:prstGeom>
          <a:solidFill>
            <a:srgbClr val="5C4E69"/>
          </a:solidFill>
          <a:ln/>
        </p:spPr>
      </p:sp>
      <p:sp>
        <p:nvSpPr>
          <p:cNvPr id="29" name="Shape 27"/>
          <p:cNvSpPr/>
          <p:nvPr/>
        </p:nvSpPr>
        <p:spPr>
          <a:xfrm>
            <a:off x="7086540" y="5900499"/>
            <a:ext cx="457319" cy="457319"/>
          </a:xfrm>
          <a:prstGeom prst="roundRect">
            <a:avLst>
              <a:gd name="adj" fmla="val 6668"/>
            </a:avLst>
          </a:prstGeom>
          <a:solidFill>
            <a:srgbClr val="433550"/>
          </a:solidFill>
          <a:ln/>
        </p:spPr>
      </p:sp>
      <p:sp>
        <p:nvSpPr>
          <p:cNvPr id="30" name="Text 28"/>
          <p:cNvSpPr/>
          <p:nvPr/>
        </p:nvSpPr>
        <p:spPr>
          <a:xfrm>
            <a:off x="7162681" y="5938540"/>
            <a:ext cx="304919" cy="381119"/>
          </a:xfrm>
          <a:prstGeom prst="rect">
            <a:avLst/>
          </a:prstGeom>
          <a:noFill/>
          <a:ln/>
        </p:spPr>
        <p:txBody>
          <a:bodyPr wrap="none" lIns="0" tIns="0" rIns="0" bIns="0" rtlCol="0" anchor="t"/>
          <a:lstStyle/>
          <a:p>
            <a:pPr algn="ctr" indent="0" marL="0">
              <a:lnSpc>
                <a:spcPts val="2400"/>
              </a:lnSpc>
              <a:buNone/>
            </a:pPr>
            <a:r>
              <a:rPr lang="en-US" sz="2400" b="1" dirty="0">
                <a:solidFill>
                  <a:srgbClr val="DAD1E6"/>
                </a:solidFill>
                <a:latin typeface="Inconsolata Bold" pitchFamily="34" charset="0"/>
                <a:ea typeface="Inconsolata Bold" pitchFamily="34" charset="-122"/>
                <a:cs typeface="Inconsolata Bold" pitchFamily="34" charset="-120"/>
              </a:rPr>
              <a:t>5</a:t>
            </a:r>
            <a:endParaRPr lang="en-US" sz="2400" dirty="0"/>
          </a:p>
        </p:txBody>
      </p:sp>
      <p:sp>
        <p:nvSpPr>
          <p:cNvPr id="31" name="Text 29"/>
          <p:cNvSpPr/>
          <p:nvPr/>
        </p:nvSpPr>
        <p:spPr>
          <a:xfrm>
            <a:off x="3757613" y="5970270"/>
            <a:ext cx="2541151" cy="317540"/>
          </a:xfrm>
          <a:prstGeom prst="rect">
            <a:avLst/>
          </a:prstGeom>
          <a:noFill/>
          <a:ln/>
        </p:spPr>
        <p:txBody>
          <a:bodyPr wrap="none" lIns="0" tIns="0" rIns="0" bIns="0" rtlCol="0" anchor="t"/>
          <a:lstStyle/>
          <a:p>
            <a:pPr algn="r" indent="0" marL="0">
              <a:lnSpc>
                <a:spcPts val="2500"/>
              </a:lnSpc>
              <a:buNone/>
            </a:pPr>
            <a:r>
              <a:rPr lang="en-US" sz="2000" b="1" dirty="0">
                <a:solidFill>
                  <a:srgbClr val="DAD1E6"/>
                </a:solidFill>
                <a:latin typeface="Inconsolata Bold" pitchFamily="34" charset="0"/>
                <a:ea typeface="Inconsolata Bold" pitchFamily="34" charset="-122"/>
                <a:cs typeface="Inconsolata Bold" pitchFamily="34" charset="-120"/>
              </a:rPr>
              <a:t>Milestone 5</a:t>
            </a:r>
            <a:endParaRPr lang="en-US" sz="2000" dirty="0"/>
          </a:p>
        </p:txBody>
      </p:sp>
      <p:sp>
        <p:nvSpPr>
          <p:cNvPr id="32" name="Text 30"/>
          <p:cNvSpPr/>
          <p:nvPr/>
        </p:nvSpPr>
        <p:spPr>
          <a:xfrm>
            <a:off x="711518" y="6397109"/>
            <a:ext cx="5587246" cy="308253"/>
          </a:xfrm>
          <a:prstGeom prst="rect">
            <a:avLst/>
          </a:prstGeom>
          <a:noFill/>
          <a:ln/>
        </p:spPr>
        <p:txBody>
          <a:bodyPr wrap="none" lIns="0" tIns="0" rIns="0" bIns="0" rtlCol="0" anchor="t"/>
          <a:lstStyle/>
          <a:p>
            <a:pPr algn="r" indent="0" marL="0">
              <a:lnSpc>
                <a:spcPts val="2400"/>
              </a:lnSpc>
              <a:buNone/>
            </a:pPr>
            <a:r>
              <a:rPr lang="en-US" sz="1600" b="1" dirty="0">
                <a:solidFill>
                  <a:srgbClr val="DAD1E6"/>
                </a:solidFill>
                <a:latin typeface="Fira Sans" pitchFamily="34" charset="0"/>
                <a:ea typeface="Fira Sans" pitchFamily="34" charset="-122"/>
                <a:cs typeface="Fira Sans" pitchFamily="34" charset="-120"/>
              </a:rPr>
              <a:t>Testing &amp; Optimization</a:t>
            </a:r>
            <a:endParaRPr lang="en-US" sz="1600" dirty="0"/>
          </a:p>
        </p:txBody>
      </p:sp>
      <p:sp>
        <p:nvSpPr>
          <p:cNvPr id="33" name="Text 31"/>
          <p:cNvSpPr/>
          <p:nvPr/>
        </p:nvSpPr>
        <p:spPr>
          <a:xfrm>
            <a:off x="711518" y="6814661"/>
            <a:ext cx="5587246" cy="308253"/>
          </a:xfrm>
          <a:prstGeom prst="rect">
            <a:avLst/>
          </a:prstGeom>
          <a:noFill/>
          <a:ln/>
        </p:spPr>
        <p:txBody>
          <a:bodyPr wrap="none" lIns="0" tIns="0" rIns="0" bIns="0" rtlCol="0" anchor="t"/>
          <a:lstStyle/>
          <a:p>
            <a:pPr algn="r" indent="0" marL="0">
              <a:lnSpc>
                <a:spcPts val="2400"/>
              </a:lnSpc>
              <a:buNone/>
            </a:pPr>
            <a:r>
              <a:rPr lang="en-US" sz="1600" dirty="0">
                <a:solidFill>
                  <a:srgbClr val="DAD1E6"/>
                </a:solidFill>
                <a:latin typeface="Fira Sans" pitchFamily="34" charset="0"/>
                <a:ea typeface="Fira Sans" pitchFamily="34" charset="-122"/>
                <a:cs typeface="Fira Sans" pitchFamily="34" charset="-120"/>
              </a:rPr>
              <a:t>Quality validation, performance tuning, deployment</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2080855"/>
            <a:ext cx="5670590" cy="708779"/>
          </a:xfrm>
          <a:prstGeom prst="rect">
            <a:avLst/>
          </a:prstGeom>
          <a:noFill/>
          <a:ln/>
        </p:spPr>
        <p:txBody>
          <a:bodyPr wrap="none" lIns="0" tIns="0" rIns="0" bIns="0" rtlCol="0" anchor="t"/>
          <a:lstStyle/>
          <a:p>
            <a:pPr algn="l" indent="0" marL="0">
              <a:lnSpc>
                <a:spcPts val="5550"/>
              </a:lnSpc>
              <a:buNone/>
            </a:pPr>
            <a:r>
              <a:rPr lang="en-US" sz="4450" b="1" dirty="0">
                <a:solidFill>
                  <a:srgbClr val="F94CAF"/>
                </a:solidFill>
                <a:latin typeface="Inconsolata Bold" pitchFamily="34" charset="0"/>
                <a:ea typeface="Inconsolata Bold" pitchFamily="34" charset="-122"/>
                <a:cs typeface="Inconsolata Bold" pitchFamily="34" charset="-120"/>
              </a:rPr>
              <a:t>Testing &amp; Validation</a:t>
            </a:r>
            <a:endParaRPr lang="en-US" sz="4450" dirty="0"/>
          </a:p>
        </p:txBody>
      </p:sp>
      <p:sp>
        <p:nvSpPr>
          <p:cNvPr id="3" name="Text 1"/>
          <p:cNvSpPr/>
          <p:nvPr/>
        </p:nvSpPr>
        <p:spPr>
          <a:xfrm>
            <a:off x="793790" y="3356610"/>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F94CAF"/>
                </a:solidFill>
                <a:latin typeface="Inconsolata Bold" pitchFamily="34" charset="0"/>
                <a:ea typeface="Inconsolata Bold" pitchFamily="34" charset="-122"/>
                <a:cs typeface="Inconsolata Bold" pitchFamily="34" charset="-120"/>
              </a:rPr>
              <a:t>Test Scenarios</a:t>
            </a:r>
            <a:endParaRPr lang="en-US" sz="2200" dirty="0"/>
          </a:p>
        </p:txBody>
      </p:sp>
      <p:sp>
        <p:nvSpPr>
          <p:cNvPr id="4" name="Text 2"/>
          <p:cNvSpPr/>
          <p:nvPr/>
        </p:nvSpPr>
        <p:spPr>
          <a:xfrm>
            <a:off x="793790" y="3937754"/>
            <a:ext cx="6244709" cy="2131695"/>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DAD1E6"/>
                </a:solidFill>
                <a:latin typeface="Fira Sans" pitchFamily="34" charset="0"/>
                <a:ea typeface="Fira Sans" pitchFamily="34" charset="-122"/>
                <a:cs typeface="Fira Sans" pitchFamily="34" charset="-120"/>
              </a:rPr>
              <a:t>Clear, low-light, and cluttered pantry images</a:t>
            </a:r>
            <a:endParaRPr lang="en-US" sz="1750" dirty="0"/>
          </a:p>
          <a:p>
            <a:pPr algn="l" marL="342900" indent="-342900">
              <a:lnSpc>
                <a:spcPts val="2850"/>
              </a:lnSpc>
              <a:buSzPct val="100000"/>
              <a:buChar char="•"/>
            </a:pPr>
            <a:r>
              <a:rPr lang="en-US" sz="1750" dirty="0">
                <a:solidFill>
                  <a:srgbClr val="DAD1E6"/>
                </a:solidFill>
                <a:latin typeface="Fira Sans" pitchFamily="34" charset="0"/>
                <a:ea typeface="Fira Sans" pitchFamily="34" charset="-122"/>
                <a:cs typeface="Fira Sans" pitchFamily="34" charset="-120"/>
              </a:rPr>
              <a:t>Detection accuracy validation</a:t>
            </a:r>
            <a:endParaRPr lang="en-US" sz="1750" dirty="0"/>
          </a:p>
          <a:p>
            <a:pPr algn="l" marL="342900" indent="-342900">
              <a:lnSpc>
                <a:spcPts val="2850"/>
              </a:lnSpc>
              <a:buSzPct val="100000"/>
              <a:buChar char="•"/>
            </a:pPr>
            <a:r>
              <a:rPr lang="en-US" sz="1750" dirty="0">
                <a:solidFill>
                  <a:srgbClr val="DAD1E6"/>
                </a:solidFill>
                <a:latin typeface="Fira Sans" pitchFamily="34" charset="0"/>
                <a:ea typeface="Fira Sans" pitchFamily="34" charset="-122"/>
                <a:cs typeface="Fira Sans" pitchFamily="34" charset="-120"/>
              </a:rPr>
              <a:t>Recipe relevance testing</a:t>
            </a:r>
            <a:endParaRPr lang="en-US" sz="1750" dirty="0"/>
          </a:p>
          <a:p>
            <a:pPr algn="l" marL="342900" indent="-342900">
              <a:lnSpc>
                <a:spcPts val="2850"/>
              </a:lnSpc>
              <a:buSzPct val="100000"/>
              <a:buChar char="•"/>
            </a:pPr>
            <a:r>
              <a:rPr lang="en-US" sz="1750" dirty="0">
                <a:solidFill>
                  <a:srgbClr val="DAD1E6"/>
                </a:solidFill>
                <a:latin typeface="Fira Sans" pitchFamily="34" charset="0"/>
                <a:ea typeface="Fira Sans" pitchFamily="34" charset="-122"/>
                <a:cs typeface="Fira Sans" pitchFamily="34" charset="-120"/>
              </a:rPr>
              <a:t>Grocery list generation</a:t>
            </a:r>
            <a:endParaRPr lang="en-US" sz="1750" dirty="0"/>
          </a:p>
          <a:p>
            <a:pPr algn="l" marL="342900" indent="-342900">
              <a:lnSpc>
                <a:spcPts val="2850"/>
              </a:lnSpc>
              <a:buSzPct val="100000"/>
              <a:buChar char="•"/>
            </a:pPr>
            <a:r>
              <a:rPr lang="en-US" sz="1750" dirty="0">
                <a:solidFill>
                  <a:srgbClr val="DAD1E6"/>
                </a:solidFill>
                <a:latin typeface="Fira Sans" pitchFamily="34" charset="0"/>
                <a:ea typeface="Fira Sans" pitchFamily="34" charset="-122"/>
                <a:cs typeface="Fira Sans" pitchFamily="34" charset="-120"/>
              </a:rPr>
              <a:t>Health score consistency</a:t>
            </a:r>
            <a:endParaRPr lang="en-US" sz="1750" dirty="0"/>
          </a:p>
        </p:txBody>
      </p:sp>
      <p:sp>
        <p:nvSpPr>
          <p:cNvPr id="5" name="Text 3"/>
          <p:cNvSpPr/>
          <p:nvPr/>
        </p:nvSpPr>
        <p:spPr>
          <a:xfrm>
            <a:off x="7599521" y="3356610"/>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F94CAF"/>
                </a:solidFill>
                <a:latin typeface="Inconsolata Bold" pitchFamily="34" charset="0"/>
                <a:ea typeface="Inconsolata Bold" pitchFamily="34" charset="-122"/>
                <a:cs typeface="Inconsolata Bold" pitchFamily="34" charset="-120"/>
              </a:rPr>
              <a:t>Quality Metrics</a:t>
            </a:r>
            <a:endParaRPr lang="en-US" sz="2200" dirty="0"/>
          </a:p>
        </p:txBody>
      </p:sp>
      <p:sp>
        <p:nvSpPr>
          <p:cNvPr id="6" name="Text 4"/>
          <p:cNvSpPr/>
          <p:nvPr/>
        </p:nvSpPr>
        <p:spPr>
          <a:xfrm>
            <a:off x="7599521" y="3937754"/>
            <a:ext cx="6244709" cy="2131695"/>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DAD1E6"/>
                </a:solidFill>
                <a:latin typeface="Fira Sans" pitchFamily="34" charset="0"/>
                <a:ea typeface="Fira Sans" pitchFamily="34" charset="-122"/>
                <a:cs typeface="Fira Sans" pitchFamily="34" charset="-120"/>
              </a:rPr>
              <a:t>Image detection accuracy: </a:t>
            </a:r>
            <a:pPr algn="l" indent="0" marL="0">
              <a:lnSpc>
                <a:spcPts val="2850"/>
              </a:lnSpc>
              <a:buNone/>
            </a:pPr>
            <a:r>
              <a:rPr lang="en-US" sz="1750" b="1" dirty="0">
                <a:solidFill>
                  <a:srgbClr val="F94CAF"/>
                </a:solidFill>
                <a:latin typeface="Fira Sans" pitchFamily="34" charset="0"/>
                <a:ea typeface="Fira Sans" pitchFamily="34" charset="-122"/>
                <a:cs typeface="Fira Sans" pitchFamily="34" charset="-120"/>
              </a:rPr>
              <a:t>High</a:t>
            </a:r>
            <a:endParaRPr lang="en-US" sz="1750" dirty="0"/>
          </a:p>
          <a:p>
            <a:pPr algn="l" marL="342900" indent="-342900">
              <a:lnSpc>
                <a:spcPts val="2850"/>
              </a:lnSpc>
              <a:buSzPct val="100000"/>
              <a:buChar char="•"/>
            </a:pPr>
            <a:r>
              <a:rPr lang="en-US" sz="1750" dirty="0">
                <a:solidFill>
                  <a:srgbClr val="DAD1E6"/>
                </a:solidFill>
                <a:latin typeface="Fira Sans" pitchFamily="34" charset="0"/>
                <a:ea typeface="Fira Sans" pitchFamily="34" charset="-122"/>
                <a:cs typeface="Fira Sans" pitchFamily="34" charset="-120"/>
              </a:rPr>
              <a:t>Recipe quality: </a:t>
            </a:r>
            <a:pPr algn="l" indent="0" marL="0">
              <a:lnSpc>
                <a:spcPts val="2850"/>
              </a:lnSpc>
              <a:buNone/>
            </a:pPr>
            <a:r>
              <a:rPr lang="en-US" sz="1750" b="1" dirty="0">
                <a:solidFill>
                  <a:srgbClr val="F94CAF"/>
                </a:solidFill>
                <a:latin typeface="Fira Sans" pitchFamily="34" charset="0"/>
                <a:ea typeface="Fira Sans" pitchFamily="34" charset="-122"/>
                <a:cs typeface="Fira Sans" pitchFamily="34" charset="-120"/>
              </a:rPr>
              <a:t>High</a:t>
            </a:r>
            <a:endParaRPr lang="en-US" sz="1750" dirty="0"/>
          </a:p>
          <a:p>
            <a:pPr algn="l" marL="342900" indent="-342900">
              <a:lnSpc>
                <a:spcPts val="2850"/>
              </a:lnSpc>
              <a:buSzPct val="100000"/>
              <a:buChar char="•"/>
            </a:pPr>
            <a:r>
              <a:rPr lang="en-US" sz="1750" dirty="0">
                <a:solidFill>
                  <a:srgbClr val="DAD1E6"/>
                </a:solidFill>
                <a:latin typeface="Fira Sans" pitchFamily="34" charset="0"/>
                <a:ea typeface="Fira Sans" pitchFamily="34" charset="-122"/>
                <a:cs typeface="Fira Sans" pitchFamily="34" charset="-120"/>
              </a:rPr>
              <a:t>Health score consistency: </a:t>
            </a:r>
            <a:pPr algn="l" indent="0" marL="0">
              <a:lnSpc>
                <a:spcPts val="2850"/>
              </a:lnSpc>
              <a:buNone/>
            </a:pPr>
            <a:r>
              <a:rPr lang="en-US" sz="1750" b="1" dirty="0">
                <a:solidFill>
                  <a:srgbClr val="F94CAF"/>
                </a:solidFill>
                <a:latin typeface="Fira Sans" pitchFamily="34" charset="0"/>
                <a:ea typeface="Fira Sans" pitchFamily="34" charset="-122"/>
                <a:cs typeface="Fira Sans" pitchFamily="34" charset="-120"/>
              </a:rPr>
              <a:t>Medium-High</a:t>
            </a:r>
            <a:endParaRPr lang="en-US" sz="1750" dirty="0"/>
          </a:p>
          <a:p>
            <a:pPr algn="l" marL="342900" indent="-342900">
              <a:lnSpc>
                <a:spcPts val="2850"/>
              </a:lnSpc>
              <a:buSzPct val="100000"/>
              <a:buChar char="•"/>
            </a:pPr>
            <a:r>
              <a:rPr lang="en-US" sz="1750" dirty="0">
                <a:solidFill>
                  <a:srgbClr val="DAD1E6"/>
                </a:solidFill>
                <a:latin typeface="Fira Sans" pitchFamily="34" charset="0"/>
                <a:ea typeface="Fira Sans" pitchFamily="34" charset="-122"/>
                <a:cs typeface="Fira Sans" pitchFamily="34" charset="-120"/>
              </a:rPr>
              <a:t>UI usability: </a:t>
            </a:r>
            <a:pPr algn="l" indent="0" marL="0">
              <a:lnSpc>
                <a:spcPts val="2850"/>
              </a:lnSpc>
              <a:buNone/>
            </a:pPr>
            <a:r>
              <a:rPr lang="en-US" sz="1750" b="1" dirty="0">
                <a:solidFill>
                  <a:srgbClr val="F94CAF"/>
                </a:solidFill>
                <a:latin typeface="Fira Sans" pitchFamily="34" charset="0"/>
                <a:ea typeface="Fira Sans" pitchFamily="34" charset="-122"/>
                <a:cs typeface="Fira Sans" pitchFamily="34" charset="-120"/>
              </a:rPr>
              <a:t>High</a:t>
            </a:r>
            <a:endParaRPr lang="en-US" sz="1750" dirty="0"/>
          </a:p>
          <a:p>
            <a:pPr algn="l" marL="342900" indent="-342900">
              <a:lnSpc>
                <a:spcPts val="2850"/>
              </a:lnSpc>
              <a:buSzPct val="100000"/>
              <a:buChar char="•"/>
            </a:pPr>
            <a:r>
              <a:rPr lang="en-US" sz="1750" dirty="0">
                <a:solidFill>
                  <a:srgbClr val="DAD1E6"/>
                </a:solidFill>
                <a:latin typeface="Fira Sans" pitchFamily="34" charset="0"/>
                <a:ea typeface="Fira Sans" pitchFamily="34" charset="-122"/>
                <a:cs typeface="Fira Sans" pitchFamily="34" charset="-120"/>
              </a:rPr>
              <a:t>Response speed: </a:t>
            </a:r>
            <a:pPr algn="l" indent="0" marL="0">
              <a:lnSpc>
                <a:spcPts val="2850"/>
              </a:lnSpc>
              <a:buNone/>
            </a:pPr>
            <a:r>
              <a:rPr lang="en-US" sz="1750" b="1" dirty="0">
                <a:solidFill>
                  <a:srgbClr val="F94CAF"/>
                </a:solidFill>
                <a:latin typeface="Fira Sans" pitchFamily="34" charset="0"/>
                <a:ea typeface="Fira Sans" pitchFamily="34" charset="-122"/>
                <a:cs typeface="Fira Sans" pitchFamily="34" charset="-120"/>
              </a:rPr>
              <a:t>High</a:t>
            </a:r>
            <a:endParaRPr lang="en-US" sz="1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2113240"/>
            <a:ext cx="5670590" cy="708779"/>
          </a:xfrm>
          <a:prstGeom prst="rect">
            <a:avLst/>
          </a:prstGeom>
          <a:noFill/>
          <a:ln/>
        </p:spPr>
        <p:txBody>
          <a:bodyPr wrap="none" lIns="0" tIns="0" rIns="0" bIns="0" rtlCol="0" anchor="t"/>
          <a:lstStyle/>
          <a:p>
            <a:pPr algn="l" indent="0" marL="0">
              <a:lnSpc>
                <a:spcPts val="5550"/>
              </a:lnSpc>
              <a:buNone/>
            </a:pPr>
            <a:r>
              <a:rPr lang="en-US" sz="4450" b="1" dirty="0">
                <a:solidFill>
                  <a:srgbClr val="F94CAF"/>
                </a:solidFill>
                <a:latin typeface="Inconsolata Bold" pitchFamily="34" charset="0"/>
                <a:ea typeface="Inconsolata Bold" pitchFamily="34" charset="-122"/>
                <a:cs typeface="Inconsolata Bold" pitchFamily="34" charset="-120"/>
              </a:rPr>
              <a:t>Impact &amp; Benefits</a:t>
            </a:r>
            <a:endParaRPr lang="en-US" sz="4450" dirty="0"/>
          </a:p>
        </p:txBody>
      </p:sp>
      <p:sp>
        <p:nvSpPr>
          <p:cNvPr id="3" name="Shape 1"/>
          <p:cNvSpPr/>
          <p:nvPr/>
        </p:nvSpPr>
        <p:spPr>
          <a:xfrm>
            <a:off x="793790" y="3275648"/>
            <a:ext cx="6407944" cy="1306949"/>
          </a:xfrm>
          <a:prstGeom prst="roundRect">
            <a:avLst>
              <a:gd name="adj" fmla="val 2603"/>
            </a:avLst>
          </a:prstGeom>
          <a:solidFill>
            <a:srgbClr val="433550"/>
          </a:solidFill>
          <a:ln/>
        </p:spPr>
      </p:sp>
      <p:sp>
        <p:nvSpPr>
          <p:cNvPr id="4" name="Text 2"/>
          <p:cNvSpPr/>
          <p:nvPr/>
        </p:nvSpPr>
        <p:spPr>
          <a:xfrm>
            <a:off x="1020604" y="3502462"/>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DAD1E6"/>
                </a:solidFill>
                <a:latin typeface="Inconsolata Bold" pitchFamily="34" charset="0"/>
                <a:ea typeface="Inconsolata Bold" pitchFamily="34" charset="-122"/>
                <a:cs typeface="Inconsolata Bold" pitchFamily="34" charset="-120"/>
              </a:rPr>
              <a:t>Reduced Food Waste</a:t>
            </a:r>
            <a:endParaRPr lang="en-US" sz="2200" dirty="0"/>
          </a:p>
        </p:txBody>
      </p:sp>
      <p:sp>
        <p:nvSpPr>
          <p:cNvPr id="5" name="Text 3"/>
          <p:cNvSpPr/>
          <p:nvPr/>
        </p:nvSpPr>
        <p:spPr>
          <a:xfrm>
            <a:off x="1020604" y="3992880"/>
            <a:ext cx="5954316" cy="362903"/>
          </a:xfrm>
          <a:prstGeom prst="rect">
            <a:avLst/>
          </a:prstGeom>
          <a:noFill/>
          <a:ln/>
        </p:spPr>
        <p:txBody>
          <a:bodyPr wrap="none" lIns="0" tIns="0" rIns="0" bIns="0" rtlCol="0" anchor="t"/>
          <a:lstStyle/>
          <a:p>
            <a:pPr algn="l" indent="0" marL="0">
              <a:lnSpc>
                <a:spcPts val="2850"/>
              </a:lnSpc>
              <a:buNone/>
            </a:pPr>
            <a:r>
              <a:rPr lang="en-US" sz="1750" dirty="0">
                <a:solidFill>
                  <a:srgbClr val="DAD1E6"/>
                </a:solidFill>
                <a:latin typeface="Fira Sans" pitchFamily="34" charset="0"/>
                <a:ea typeface="Fira Sans" pitchFamily="34" charset="-122"/>
                <a:cs typeface="Fira Sans" pitchFamily="34" charset="-120"/>
              </a:rPr>
              <a:t>Utilizes available ingredients efficiently, minimizing waste</a:t>
            </a:r>
            <a:endParaRPr lang="en-US" sz="1750" dirty="0"/>
          </a:p>
        </p:txBody>
      </p:sp>
      <p:sp>
        <p:nvSpPr>
          <p:cNvPr id="6" name="Shape 4"/>
          <p:cNvSpPr/>
          <p:nvPr/>
        </p:nvSpPr>
        <p:spPr>
          <a:xfrm>
            <a:off x="7428548" y="3275648"/>
            <a:ext cx="6408063" cy="1306949"/>
          </a:xfrm>
          <a:prstGeom prst="roundRect">
            <a:avLst>
              <a:gd name="adj" fmla="val 2603"/>
            </a:avLst>
          </a:prstGeom>
          <a:solidFill>
            <a:srgbClr val="433550"/>
          </a:solidFill>
          <a:ln/>
        </p:spPr>
      </p:sp>
      <p:sp>
        <p:nvSpPr>
          <p:cNvPr id="7" name="Text 5"/>
          <p:cNvSpPr/>
          <p:nvPr/>
        </p:nvSpPr>
        <p:spPr>
          <a:xfrm>
            <a:off x="7655362" y="3502462"/>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DAD1E6"/>
                </a:solidFill>
                <a:latin typeface="Inconsolata Bold" pitchFamily="34" charset="0"/>
                <a:ea typeface="Inconsolata Bold" pitchFamily="34" charset="-122"/>
                <a:cs typeface="Inconsolata Bold" pitchFamily="34" charset="-120"/>
              </a:rPr>
              <a:t>Time Savings</a:t>
            </a:r>
            <a:endParaRPr lang="en-US" sz="2200" dirty="0"/>
          </a:p>
        </p:txBody>
      </p:sp>
      <p:sp>
        <p:nvSpPr>
          <p:cNvPr id="8" name="Text 6"/>
          <p:cNvSpPr/>
          <p:nvPr/>
        </p:nvSpPr>
        <p:spPr>
          <a:xfrm>
            <a:off x="7655362" y="3992880"/>
            <a:ext cx="5954435" cy="362903"/>
          </a:xfrm>
          <a:prstGeom prst="rect">
            <a:avLst/>
          </a:prstGeom>
          <a:noFill/>
          <a:ln/>
        </p:spPr>
        <p:txBody>
          <a:bodyPr wrap="none" lIns="0" tIns="0" rIns="0" bIns="0" rtlCol="0" anchor="t"/>
          <a:lstStyle/>
          <a:p>
            <a:pPr algn="l" indent="0" marL="0">
              <a:lnSpc>
                <a:spcPts val="2850"/>
              </a:lnSpc>
              <a:buNone/>
            </a:pPr>
            <a:r>
              <a:rPr lang="en-US" sz="1750" dirty="0">
                <a:solidFill>
                  <a:srgbClr val="DAD1E6"/>
                </a:solidFill>
                <a:latin typeface="Fira Sans" pitchFamily="34" charset="0"/>
                <a:ea typeface="Fira Sans" pitchFamily="34" charset="-122"/>
                <a:cs typeface="Fira Sans" pitchFamily="34" charset="-120"/>
              </a:rPr>
              <a:t>Automates meal planning and grocery list creation</a:t>
            </a:r>
            <a:endParaRPr lang="en-US" sz="1750" dirty="0"/>
          </a:p>
        </p:txBody>
      </p:sp>
      <p:sp>
        <p:nvSpPr>
          <p:cNvPr id="9" name="Shape 7"/>
          <p:cNvSpPr/>
          <p:nvPr/>
        </p:nvSpPr>
        <p:spPr>
          <a:xfrm>
            <a:off x="793790" y="4809411"/>
            <a:ext cx="6407944" cy="1306949"/>
          </a:xfrm>
          <a:prstGeom prst="roundRect">
            <a:avLst>
              <a:gd name="adj" fmla="val 2603"/>
            </a:avLst>
          </a:prstGeom>
          <a:solidFill>
            <a:srgbClr val="433550"/>
          </a:solidFill>
          <a:ln/>
        </p:spPr>
      </p:sp>
      <p:sp>
        <p:nvSpPr>
          <p:cNvPr id="10" name="Text 8"/>
          <p:cNvSpPr/>
          <p:nvPr/>
        </p:nvSpPr>
        <p:spPr>
          <a:xfrm>
            <a:off x="1020604" y="5036225"/>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DAD1E6"/>
                </a:solidFill>
                <a:latin typeface="Inconsolata Bold" pitchFamily="34" charset="0"/>
                <a:ea typeface="Inconsolata Bold" pitchFamily="34" charset="-122"/>
                <a:cs typeface="Inconsolata Bold" pitchFamily="34" charset="-120"/>
              </a:rPr>
              <a:t>Healthier Eating</a:t>
            </a:r>
            <a:endParaRPr lang="en-US" sz="2200" dirty="0"/>
          </a:p>
        </p:txBody>
      </p:sp>
      <p:sp>
        <p:nvSpPr>
          <p:cNvPr id="11" name="Text 9"/>
          <p:cNvSpPr/>
          <p:nvPr/>
        </p:nvSpPr>
        <p:spPr>
          <a:xfrm>
            <a:off x="1020604" y="5526643"/>
            <a:ext cx="5954316" cy="362903"/>
          </a:xfrm>
          <a:prstGeom prst="rect">
            <a:avLst/>
          </a:prstGeom>
          <a:noFill/>
          <a:ln/>
        </p:spPr>
        <p:txBody>
          <a:bodyPr wrap="none" lIns="0" tIns="0" rIns="0" bIns="0" rtlCol="0" anchor="t"/>
          <a:lstStyle/>
          <a:p>
            <a:pPr algn="l" indent="0" marL="0">
              <a:lnSpc>
                <a:spcPts val="2850"/>
              </a:lnSpc>
              <a:buNone/>
            </a:pPr>
            <a:r>
              <a:rPr lang="en-US" sz="1750" dirty="0">
                <a:solidFill>
                  <a:srgbClr val="DAD1E6"/>
                </a:solidFill>
                <a:latin typeface="Fira Sans" pitchFamily="34" charset="0"/>
                <a:ea typeface="Fira Sans" pitchFamily="34" charset="-122"/>
                <a:cs typeface="Fira Sans" pitchFamily="34" charset="-120"/>
              </a:rPr>
              <a:t>Promotes balanced nutrition through scoring system</a:t>
            </a:r>
            <a:endParaRPr lang="en-US" sz="1750" dirty="0"/>
          </a:p>
        </p:txBody>
      </p:sp>
      <p:sp>
        <p:nvSpPr>
          <p:cNvPr id="12" name="Shape 10"/>
          <p:cNvSpPr/>
          <p:nvPr/>
        </p:nvSpPr>
        <p:spPr>
          <a:xfrm>
            <a:off x="7428548" y="4809411"/>
            <a:ext cx="6408063" cy="1306949"/>
          </a:xfrm>
          <a:prstGeom prst="roundRect">
            <a:avLst>
              <a:gd name="adj" fmla="val 2603"/>
            </a:avLst>
          </a:prstGeom>
          <a:solidFill>
            <a:srgbClr val="433550"/>
          </a:solidFill>
          <a:ln/>
        </p:spPr>
      </p:sp>
      <p:sp>
        <p:nvSpPr>
          <p:cNvPr id="13" name="Text 11"/>
          <p:cNvSpPr/>
          <p:nvPr/>
        </p:nvSpPr>
        <p:spPr>
          <a:xfrm>
            <a:off x="7655362" y="5036225"/>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DAD1E6"/>
                </a:solidFill>
                <a:latin typeface="Inconsolata Bold" pitchFamily="34" charset="0"/>
                <a:ea typeface="Inconsolata Bold" pitchFamily="34" charset="-122"/>
                <a:cs typeface="Inconsolata Bold" pitchFamily="34" charset="-120"/>
              </a:rPr>
              <a:t>Cooking Confidence</a:t>
            </a:r>
            <a:endParaRPr lang="en-US" sz="2200" dirty="0"/>
          </a:p>
        </p:txBody>
      </p:sp>
      <p:sp>
        <p:nvSpPr>
          <p:cNvPr id="14" name="Text 12"/>
          <p:cNvSpPr/>
          <p:nvPr/>
        </p:nvSpPr>
        <p:spPr>
          <a:xfrm>
            <a:off x="7655362" y="5526643"/>
            <a:ext cx="5954435" cy="362903"/>
          </a:xfrm>
          <a:prstGeom prst="rect">
            <a:avLst/>
          </a:prstGeom>
          <a:noFill/>
          <a:ln/>
        </p:spPr>
        <p:txBody>
          <a:bodyPr wrap="none" lIns="0" tIns="0" rIns="0" bIns="0" rtlCol="0" anchor="t"/>
          <a:lstStyle/>
          <a:p>
            <a:pPr algn="l" indent="0" marL="0">
              <a:lnSpc>
                <a:spcPts val="2850"/>
              </a:lnSpc>
              <a:buNone/>
            </a:pPr>
            <a:r>
              <a:rPr lang="en-US" sz="1750" dirty="0">
                <a:solidFill>
                  <a:srgbClr val="DAD1E6"/>
                </a:solidFill>
                <a:latin typeface="Fira Sans" pitchFamily="34" charset="0"/>
                <a:ea typeface="Fira Sans" pitchFamily="34" charset="-122"/>
                <a:cs typeface="Fira Sans" pitchFamily="34" charset="-120"/>
              </a:rPr>
              <a:t>Beginner-friendly recipes boost culinary skills</a:t>
            </a:r>
            <a:endParaRPr lang="en-US" sz="1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1571625"/>
            <a:ext cx="5670590" cy="708779"/>
          </a:xfrm>
          <a:prstGeom prst="rect">
            <a:avLst/>
          </a:prstGeom>
          <a:noFill/>
          <a:ln/>
        </p:spPr>
        <p:txBody>
          <a:bodyPr wrap="none" lIns="0" tIns="0" rIns="0" bIns="0" rtlCol="0" anchor="t"/>
          <a:lstStyle/>
          <a:p>
            <a:pPr algn="l" indent="0" marL="0">
              <a:lnSpc>
                <a:spcPts val="5550"/>
              </a:lnSpc>
              <a:buNone/>
            </a:pPr>
            <a:r>
              <a:rPr lang="en-US" sz="4450" b="1" dirty="0">
                <a:solidFill>
                  <a:srgbClr val="F94CAF"/>
                </a:solidFill>
                <a:latin typeface="Inconsolata Bold" pitchFamily="34" charset="0"/>
                <a:ea typeface="Inconsolata Bold" pitchFamily="34" charset="-122"/>
                <a:cs typeface="Inconsolata Bold" pitchFamily="34" charset="-120"/>
              </a:rPr>
              <a:t>Conclusion</a:t>
            </a:r>
            <a:endParaRPr lang="en-US" sz="4450" dirty="0"/>
          </a:p>
        </p:txBody>
      </p:sp>
      <p:sp>
        <p:nvSpPr>
          <p:cNvPr id="3" name="Text 1"/>
          <p:cNvSpPr/>
          <p:nvPr/>
        </p:nvSpPr>
        <p:spPr>
          <a:xfrm>
            <a:off x="1133951" y="2989183"/>
            <a:ext cx="12702659" cy="725805"/>
          </a:xfrm>
          <a:prstGeom prst="rect">
            <a:avLst/>
          </a:prstGeom>
          <a:noFill/>
          <a:ln/>
        </p:spPr>
        <p:txBody>
          <a:bodyPr wrap="square" lIns="0" tIns="0" rIns="0" bIns="0" rtlCol="0" anchor="t"/>
          <a:lstStyle/>
          <a:p>
            <a:pPr algn="l" indent="0" marL="0">
              <a:lnSpc>
                <a:spcPts val="2850"/>
              </a:lnSpc>
              <a:buNone/>
            </a:pPr>
            <a:r>
              <a:rPr lang="en-US" sz="1750" dirty="0">
                <a:solidFill>
                  <a:srgbClr val="DAD1E6"/>
                </a:solidFill>
                <a:latin typeface="Fira Sans" pitchFamily="34" charset="0"/>
                <a:ea typeface="Fira Sans" pitchFamily="34" charset="-122"/>
                <a:cs typeface="Fira Sans" pitchFamily="34" charset="-120"/>
              </a:rPr>
              <a:t>Kitchen Vision redefines everyday cooking assistance by delivering an intelligent, AI-powered solution that transforms pantry images into meaningful culinary insights.</a:t>
            </a:r>
            <a:endParaRPr lang="en-US" sz="1750" dirty="0"/>
          </a:p>
        </p:txBody>
      </p:sp>
      <p:sp>
        <p:nvSpPr>
          <p:cNvPr id="4" name="Shape 2"/>
          <p:cNvSpPr/>
          <p:nvPr/>
        </p:nvSpPr>
        <p:spPr>
          <a:xfrm>
            <a:off x="793790" y="2734032"/>
            <a:ext cx="30480" cy="1236107"/>
          </a:xfrm>
          <a:prstGeom prst="rect">
            <a:avLst/>
          </a:prstGeom>
          <a:solidFill>
            <a:srgbClr val="F94CAF"/>
          </a:solidFill>
          <a:ln/>
        </p:spPr>
      </p:sp>
      <p:sp>
        <p:nvSpPr>
          <p:cNvPr id="5" name="Text 3"/>
          <p:cNvSpPr/>
          <p:nvPr/>
        </p:nvSpPr>
        <p:spPr>
          <a:xfrm>
            <a:off x="793790" y="4225290"/>
            <a:ext cx="13042821" cy="1451610"/>
          </a:xfrm>
          <a:prstGeom prst="rect">
            <a:avLst/>
          </a:prstGeom>
          <a:noFill/>
          <a:ln/>
        </p:spPr>
        <p:txBody>
          <a:bodyPr wrap="square" lIns="0" tIns="0" rIns="0" bIns="0" rtlCol="0" anchor="t"/>
          <a:lstStyle/>
          <a:p>
            <a:pPr algn="l" indent="0" marL="0">
              <a:lnSpc>
                <a:spcPts val="2850"/>
              </a:lnSpc>
              <a:buNone/>
            </a:pPr>
            <a:r>
              <a:rPr lang="en-US" sz="1750" dirty="0">
                <a:solidFill>
                  <a:srgbClr val="DAD1E6"/>
                </a:solidFill>
                <a:latin typeface="Fira Sans" pitchFamily="34" charset="0"/>
                <a:ea typeface="Fira Sans" pitchFamily="34" charset="-122"/>
                <a:cs typeface="Fira Sans" pitchFamily="34" charset="-120"/>
              </a:rPr>
              <a:t>By combining Streamlit with advanced multimodal AI models, the system accurately analyzes pantry images, identifies and categorizes food items, and generates simple, practical recipes tailored to available ingredients. The application efficiently handles image processing, recipe generation, substitution logic, health scoring, and grocery list creation through well-structured service layers.</a:t>
            </a:r>
            <a:endParaRPr lang="en-US" sz="1750" dirty="0"/>
          </a:p>
        </p:txBody>
      </p:sp>
      <p:sp>
        <p:nvSpPr>
          <p:cNvPr id="6" name="Text 4"/>
          <p:cNvSpPr/>
          <p:nvPr/>
        </p:nvSpPr>
        <p:spPr>
          <a:xfrm>
            <a:off x="793790" y="5932051"/>
            <a:ext cx="13042821" cy="725805"/>
          </a:xfrm>
          <a:prstGeom prst="rect">
            <a:avLst/>
          </a:prstGeom>
          <a:noFill/>
          <a:ln/>
        </p:spPr>
        <p:txBody>
          <a:bodyPr wrap="square" lIns="0" tIns="0" rIns="0" bIns="0" rtlCol="0" anchor="t"/>
          <a:lstStyle/>
          <a:p>
            <a:pPr algn="l" indent="0" marL="0">
              <a:lnSpc>
                <a:spcPts val="2850"/>
              </a:lnSpc>
              <a:buNone/>
            </a:pPr>
            <a:r>
              <a:rPr lang="en-US" sz="1750" dirty="0">
                <a:solidFill>
                  <a:srgbClr val="000000"/>
                </a:solidFill>
                <a:highlight>
                  <a:srgbClr val="F94CAF"/>
                </a:highlight>
                <a:latin typeface="Fira Sans" pitchFamily="34" charset="0"/>
                <a:ea typeface="Fira Sans" pitchFamily="34" charset="-122"/>
                <a:cs typeface="Fira Sans" pitchFamily="34" charset="-120"/>
              </a:rPr>
              <a:t>Kitchen Vision helps users reduce food waste, save time, and promote healthier eating habits—making every day cooking smarter, easier, and healthier.</a:t>
            </a: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2026-03-09T05:49:32Z</dcterms:created>
  <dcterms:modified xsi:type="dcterms:W3CDTF">2026-03-09T05:49:32Z</dcterms:modified>
</cp:coreProperties>
</file>